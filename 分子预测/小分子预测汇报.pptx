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5" r:id="rId7"/>
    <p:sldId id="260" r:id="rId8"/>
    <p:sldId id="261" r:id="rId9"/>
    <p:sldId id="262" r:id="rId10"/>
    <p:sldId id="263" r:id="rId11"/>
    <p:sldId id="264" r:id="rId1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5"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05"/>
        <p:guide pos="287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Slide Image Placeholder 1"/>
          <p:cNvSpPr>
            <a:spLocks noGrp="1" noRot="1" noChangeAspect="1"/>
          </p:cNvSpPr>
          <p:nvPr>
            <p:ph type="sldImg"/>
          </p:nvPr>
        </p:nvSpPr>
        <p:spPr/>
      </p:sp>
      <p:sp>
        <p:nvSpPr>
          <p:cNvPr id="5122" name="Notes Placeholder 2"/>
          <p:cNvSpPr>
            <a:spLocks noGrp="1"/>
          </p:cNvSpPr>
          <p:nvPr>
            <p:ph type="body"/>
          </p:nvPr>
        </p:nvSpPr>
        <p:spPr/>
        <p:txBody>
          <a:bodyPr lIns="91440" tIns="45720" rIns="91440" bIns="45720" anchor="t" anchorCtr="0"/>
          <a:p>
            <a:pPr lvl="0"/>
            <a:endParaRPr lang="en-US" altLang="zh-CN" dirty="0"/>
          </a:p>
        </p:txBody>
      </p:sp>
      <p:sp>
        <p:nvSpPr>
          <p:cNvPr id="5123"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Slide Image Placeholder 1"/>
          <p:cNvSpPr>
            <a:spLocks noGrp="1" noRot="1" noChangeAspect="1"/>
          </p:cNvSpPr>
          <p:nvPr>
            <p:ph type="sldImg"/>
          </p:nvPr>
        </p:nvSpPr>
        <p:spPr/>
      </p:sp>
      <p:sp>
        <p:nvSpPr>
          <p:cNvPr id="7170" name="Notes Placeholder 2"/>
          <p:cNvSpPr>
            <a:spLocks noGrp="1"/>
          </p:cNvSpPr>
          <p:nvPr>
            <p:ph type="body"/>
          </p:nvPr>
        </p:nvSpPr>
        <p:spPr/>
        <p:txBody>
          <a:bodyPr lIns="91440" tIns="45720" rIns="91440" bIns="45720" anchor="t" anchorCtr="0"/>
          <a:p>
            <a:pPr lvl="0"/>
            <a:endParaRPr lang="en-US" altLang="zh-CN" dirty="0"/>
          </a:p>
        </p:txBody>
      </p:sp>
      <p:sp>
        <p:nvSpPr>
          <p:cNvPr id="7171"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Slide Image Placeholder 1"/>
          <p:cNvSpPr>
            <a:spLocks noGrp="1" noRot="1" noChangeAspect="1"/>
          </p:cNvSpPr>
          <p:nvPr>
            <p:ph type="sldImg"/>
          </p:nvPr>
        </p:nvSpPr>
        <p:spPr/>
      </p:sp>
      <p:sp>
        <p:nvSpPr>
          <p:cNvPr id="9218" name="Notes Placeholder 2"/>
          <p:cNvSpPr>
            <a:spLocks noGrp="1"/>
          </p:cNvSpPr>
          <p:nvPr>
            <p:ph type="body"/>
          </p:nvPr>
        </p:nvSpPr>
        <p:spPr/>
        <p:txBody>
          <a:bodyPr lIns="91440" tIns="45720" rIns="91440" bIns="45720" anchor="t" anchorCtr="0"/>
          <a:p>
            <a:pPr lvl="0"/>
            <a:endParaRPr lang="en-US" altLang="zh-CN" dirty="0"/>
          </a:p>
        </p:txBody>
      </p:sp>
      <p:sp>
        <p:nvSpPr>
          <p:cNvPr id="9219"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Slide Image Placeholder 1"/>
          <p:cNvSpPr>
            <a:spLocks noGrp="1" noRot="1" noChangeAspect="1"/>
          </p:cNvSpPr>
          <p:nvPr>
            <p:ph type="sldImg"/>
          </p:nvPr>
        </p:nvSpPr>
        <p:spPr/>
      </p:sp>
      <p:sp>
        <p:nvSpPr>
          <p:cNvPr id="9218" name="Notes Placeholder 2"/>
          <p:cNvSpPr>
            <a:spLocks noGrp="1"/>
          </p:cNvSpPr>
          <p:nvPr>
            <p:ph type="body"/>
          </p:nvPr>
        </p:nvSpPr>
        <p:spPr/>
        <p:txBody>
          <a:bodyPr lIns="91440" tIns="45720" rIns="91440" bIns="45720" anchor="t" anchorCtr="0"/>
          <a:p>
            <a:pPr lvl="0"/>
            <a:endParaRPr lang="en-US" altLang="zh-CN" dirty="0"/>
          </a:p>
        </p:txBody>
      </p:sp>
      <p:sp>
        <p:nvSpPr>
          <p:cNvPr id="9219"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Slide Image Placeholder 1"/>
          <p:cNvSpPr>
            <a:spLocks noGrp="1" noRot="1" noChangeAspect="1"/>
          </p:cNvSpPr>
          <p:nvPr>
            <p:ph type="sldImg"/>
          </p:nvPr>
        </p:nvSpPr>
        <p:spPr/>
      </p:sp>
      <p:sp>
        <p:nvSpPr>
          <p:cNvPr id="11266" name="Notes Placeholder 2"/>
          <p:cNvSpPr>
            <a:spLocks noGrp="1"/>
          </p:cNvSpPr>
          <p:nvPr>
            <p:ph type="body"/>
          </p:nvPr>
        </p:nvSpPr>
        <p:spPr/>
        <p:txBody>
          <a:bodyPr lIns="91440" tIns="45720" rIns="91440" bIns="45720" anchor="t" anchorCtr="0"/>
          <a:p>
            <a:pPr lvl="0"/>
            <a:endParaRPr lang="en-US" altLang="zh-CN" dirty="0"/>
          </a:p>
        </p:txBody>
      </p:sp>
      <p:sp>
        <p:nvSpPr>
          <p:cNvPr id="11267"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Slide Image Placeholder 1"/>
          <p:cNvSpPr>
            <a:spLocks noGrp="1" noRot="1" noChangeAspect="1"/>
          </p:cNvSpPr>
          <p:nvPr>
            <p:ph type="sldImg"/>
          </p:nvPr>
        </p:nvSpPr>
        <p:spPr/>
      </p:sp>
      <p:sp>
        <p:nvSpPr>
          <p:cNvPr id="13314" name="Notes Placeholder 2"/>
          <p:cNvSpPr>
            <a:spLocks noGrp="1"/>
          </p:cNvSpPr>
          <p:nvPr>
            <p:ph type="body"/>
          </p:nvPr>
        </p:nvSpPr>
        <p:spPr/>
        <p:txBody>
          <a:bodyPr lIns="91440" tIns="45720" rIns="91440" bIns="45720" anchor="t" anchorCtr="0"/>
          <a:p>
            <a:pPr lvl="0"/>
            <a:endParaRPr lang="en-US" altLang="zh-CN" dirty="0"/>
          </a:p>
        </p:txBody>
      </p:sp>
      <p:sp>
        <p:nvSpPr>
          <p:cNvPr id="13315"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Slide Image Placeholder 1"/>
          <p:cNvSpPr>
            <a:spLocks noGrp="1" noRot="1" noChangeAspect="1"/>
          </p:cNvSpPr>
          <p:nvPr>
            <p:ph type="sldImg"/>
          </p:nvPr>
        </p:nvSpPr>
        <p:spPr/>
      </p:sp>
      <p:sp>
        <p:nvSpPr>
          <p:cNvPr id="15362" name="Notes Placeholder 2"/>
          <p:cNvSpPr>
            <a:spLocks noGrp="1"/>
          </p:cNvSpPr>
          <p:nvPr>
            <p:ph type="body"/>
          </p:nvPr>
        </p:nvSpPr>
        <p:spPr/>
        <p:txBody>
          <a:bodyPr lIns="91440" tIns="45720" rIns="91440" bIns="45720" anchor="t" anchorCtr="0"/>
          <a:p>
            <a:pPr lvl="0"/>
            <a:endParaRPr lang="en-US" altLang="zh-CN" dirty="0"/>
          </a:p>
        </p:txBody>
      </p:sp>
      <p:sp>
        <p:nvSpPr>
          <p:cNvPr id="15363"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Slide Image Placeholder 1"/>
          <p:cNvSpPr>
            <a:spLocks noGrp="1" noRot="1" noChangeAspect="1"/>
          </p:cNvSpPr>
          <p:nvPr>
            <p:ph type="sldImg"/>
          </p:nvPr>
        </p:nvSpPr>
        <p:spPr/>
      </p:sp>
      <p:sp>
        <p:nvSpPr>
          <p:cNvPr id="17410" name="Notes Placeholder 2"/>
          <p:cNvSpPr>
            <a:spLocks noGrp="1"/>
          </p:cNvSpPr>
          <p:nvPr>
            <p:ph type="body"/>
          </p:nvPr>
        </p:nvSpPr>
        <p:spPr/>
        <p:txBody>
          <a:bodyPr lIns="91440" tIns="45720" rIns="91440" bIns="45720" anchor="t" anchorCtr="0"/>
          <a:p>
            <a:pPr lvl="0"/>
            <a:endParaRPr lang="en-US" altLang="zh-CN" dirty="0"/>
          </a:p>
        </p:txBody>
      </p:sp>
      <p:sp>
        <p:nvSpPr>
          <p:cNvPr id="17411"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Slide Image Placeholder 1"/>
          <p:cNvSpPr>
            <a:spLocks noGrp="1" noRot="1" noChangeAspect="1"/>
          </p:cNvSpPr>
          <p:nvPr>
            <p:ph type="sldImg"/>
          </p:nvPr>
        </p:nvSpPr>
        <p:spPr/>
      </p:sp>
      <p:sp>
        <p:nvSpPr>
          <p:cNvPr id="19458" name="Notes Placeholder 2"/>
          <p:cNvSpPr>
            <a:spLocks noGrp="1"/>
          </p:cNvSpPr>
          <p:nvPr>
            <p:ph type="body"/>
          </p:nvPr>
        </p:nvSpPr>
        <p:spPr/>
        <p:txBody>
          <a:bodyPr lIns="91440" tIns="45720" rIns="91440" bIns="45720" anchor="t" anchorCtr="0"/>
          <a:p>
            <a:pPr lvl="0"/>
            <a:endParaRPr lang="en-US" altLang="zh-CN" dirty="0"/>
          </a:p>
        </p:txBody>
      </p:sp>
      <p:sp>
        <p:nvSpPr>
          <p:cNvPr id="19459"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245225"/>
            <a:ext cx="2133600" cy="476250"/>
          </a:xfrm>
          <a:prstGeom prst="rect">
            <a:avLst/>
          </a:prstGeom>
          <a:noFill/>
          <a:ln w="9525">
            <a:noFill/>
          </a:ln>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a:xfrm>
            <a:off x="3124200" y="6245225"/>
            <a:ext cx="2895600" cy="476250"/>
          </a:xfrm>
          <a:prstGeom prst="rect">
            <a:avLst/>
          </a:prstGeom>
          <a:noFill/>
          <a:ln w="9525">
            <a:noFill/>
          </a:ln>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a:xfrm>
            <a:off x="6553200" y="6245225"/>
            <a:ext cx="2133600" cy="476250"/>
          </a:xfrm>
          <a:prstGeom prst="rect">
            <a:avLst/>
          </a:prstGeom>
          <a:noFill/>
          <a:ln w="9525">
            <a:noFill/>
          </a:ln>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4098"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4099"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4100"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4101"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2"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3"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4"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5"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6"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7"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09"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4110" name="文本框 1"/>
          <p:cNvSpPr txBox="1"/>
          <p:nvPr/>
        </p:nvSpPr>
        <p:spPr>
          <a:xfrm>
            <a:off x="1115695" y="2348865"/>
            <a:ext cx="7605713" cy="1568450"/>
          </a:xfrm>
          <a:prstGeom prst="rect">
            <a:avLst/>
          </a:prstGeom>
          <a:noFill/>
          <a:ln w="9525">
            <a:noFill/>
          </a:ln>
        </p:spPr>
        <p:txBody>
          <a:bodyPr wrap="square" anchor="t" anchorCtr="0">
            <a:spAutoFit/>
          </a:bodyPr>
          <a:p>
            <a:pPr algn="ctr" defTabSz="266700"/>
            <a:r>
              <a:rPr lang="zh-CN" altLang="en-US" sz="3200">
                <a:latin typeface="微软雅黑" panose="020B0503020204020204" charset="-122"/>
                <a:ea typeface="微软雅黑" panose="020B0503020204020204" charset="-122"/>
              </a:rPr>
              <a:t>抗肿瘤小分子药物设计</a:t>
            </a:r>
            <a:r>
              <a:rPr lang="zh-CN" altLang="en-US" sz="3200">
                <a:latin typeface="微软雅黑" panose="020B0503020204020204" charset="-122"/>
                <a:ea typeface="微软雅黑" panose="020B0503020204020204" charset="-122"/>
              </a:rPr>
              <a:t>案例</a:t>
            </a:r>
            <a:endParaRPr lang="zh-CN" altLang="en-US" sz="3200">
              <a:latin typeface="微软雅黑" panose="020B0503020204020204" charset="-122"/>
              <a:ea typeface="微软雅黑" panose="020B0503020204020204" charset="-122"/>
            </a:endParaRPr>
          </a:p>
          <a:p>
            <a:pPr algn="ctr" defTabSz="266700"/>
            <a:r>
              <a:rPr lang="zh-CN" altLang="en-US" sz="3200">
                <a:latin typeface="微软雅黑" panose="020B0503020204020204" charset="-122"/>
                <a:ea typeface="微软雅黑" panose="020B0503020204020204" charset="-122"/>
              </a:rPr>
              <a:t>针对</a:t>
            </a:r>
            <a:r>
              <a:rPr lang="zh-CN" altLang="en-US" sz="3200">
                <a:latin typeface="微软雅黑" panose="020B0503020204020204" charset="-122"/>
                <a:ea typeface="微软雅黑" panose="020B0503020204020204" charset="-122"/>
                <a:sym typeface="+mn-ea"/>
              </a:rPr>
              <a:t>肺癌中</a:t>
            </a:r>
            <a:r>
              <a:rPr lang="en-US" altLang="zh-CN" sz="3200">
                <a:latin typeface="微软雅黑" panose="020B0503020204020204" charset="-122"/>
                <a:ea typeface="微软雅黑" panose="020B0503020204020204" charset="-122"/>
              </a:rPr>
              <a:t>KRAS </a:t>
            </a:r>
            <a:r>
              <a:rPr lang="zh-CN" altLang="en-US" sz="3200">
                <a:latin typeface="微软雅黑" panose="020B0503020204020204" charset="-122"/>
                <a:ea typeface="微软雅黑" panose="020B0503020204020204" charset="-122"/>
              </a:rPr>
              <a:t>基因突变位点</a:t>
            </a:r>
            <a:r>
              <a:rPr lang="zh-CN" altLang="en-US" sz="3200">
                <a:latin typeface="微软雅黑" panose="020B0503020204020204" charset="-122"/>
                <a:ea typeface="微软雅黑" panose="020B0503020204020204" charset="-122"/>
              </a:rPr>
              <a:t>的小分子药物预测</a:t>
            </a:r>
            <a:endParaRPr lang="zh-CN" altLang="en-US" sz="3200">
              <a:latin typeface="微软雅黑" panose="020B0503020204020204" charset="-122"/>
              <a:ea typeface="微软雅黑" panose="020B0503020204020204" charset="-122"/>
            </a:endParaRPr>
          </a:p>
        </p:txBody>
      </p:sp>
      <p:sp>
        <p:nvSpPr>
          <p:cNvPr id="2" name="文本框 1"/>
          <p:cNvSpPr txBox="1"/>
          <p:nvPr/>
        </p:nvSpPr>
        <p:spPr>
          <a:xfrm>
            <a:off x="2915920" y="4365625"/>
            <a:ext cx="4572000" cy="33718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sym typeface="+mn-ea"/>
              </a:rPr>
              <a:t>汇报时间：</a:t>
            </a:r>
            <a:r>
              <a:rPr lang="en-US" altLang="zh-CN" sz="1600">
                <a:latin typeface="微软雅黑" panose="020B0503020204020204" charset="-122"/>
                <a:ea typeface="微软雅黑" panose="020B0503020204020204" charset="-122"/>
                <a:sym typeface="+mn-ea"/>
              </a:rPr>
              <a:t>10.14</a:t>
            </a:r>
            <a:endParaRPr lang="en-US" altLang="zh-CN" sz="1600">
              <a:latin typeface="微软雅黑" panose="020B0503020204020204" charset="-122"/>
              <a:ea typeface="微软雅黑" panose="020B0503020204020204" charset="-122"/>
              <a:sym typeface="+mn-ea"/>
            </a:endParaRPr>
          </a:p>
        </p:txBody>
      </p:sp>
      <p:sp>
        <p:nvSpPr>
          <p:cNvPr id="3" name="文本框 2"/>
          <p:cNvSpPr txBox="1"/>
          <p:nvPr/>
        </p:nvSpPr>
        <p:spPr>
          <a:xfrm>
            <a:off x="5765800" y="4365625"/>
            <a:ext cx="4572000" cy="33718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sym typeface="+mn-ea"/>
              </a:rPr>
              <a:t>汇报人：贾玉超</a:t>
            </a:r>
            <a:endParaRPr lang="zh-CN" altLang="en-US" sz="1600">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6146"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47"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6148"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6149"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6150" name="Shape 5"/>
          <p:cNvSpPr/>
          <p:nvPr/>
        </p:nvSpPr>
        <p:spPr>
          <a:xfrm>
            <a:off x="35243" y="62372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6151"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2"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3"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4"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5"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6"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7"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8"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6159" name="文本框 1"/>
          <p:cNvSpPr txBox="1"/>
          <p:nvPr/>
        </p:nvSpPr>
        <p:spPr>
          <a:xfrm>
            <a:off x="107950" y="366713"/>
            <a:ext cx="5080000" cy="398462"/>
          </a:xfrm>
          <a:prstGeom prst="rect">
            <a:avLst/>
          </a:prstGeom>
          <a:noFill/>
          <a:ln w="9525">
            <a:noFill/>
          </a:ln>
        </p:spPr>
        <p:txBody>
          <a:bodyPr anchor="t" anchorCtr="0">
            <a:spAutoFit/>
          </a:bodyPr>
          <a:p>
            <a:pPr algn="just" defTabSz="266700"/>
            <a:r>
              <a:rPr lang="zh-CN" altLang="en-US" sz="2000">
                <a:latin typeface="黑体" panose="02010609060101010101" charset="-122"/>
                <a:ea typeface="黑体" panose="02010609060101010101" charset="-122"/>
              </a:rPr>
              <a:t>一、</a:t>
            </a:r>
            <a:r>
              <a:rPr lang="en-US" altLang="zh-CN" sz="2000">
                <a:latin typeface="黑体" panose="02010609060101010101" charset="-122"/>
                <a:ea typeface="黑体" panose="02010609060101010101" charset="-122"/>
              </a:rPr>
              <a:t>KRAS </a:t>
            </a:r>
            <a:r>
              <a:rPr lang="zh-CN" altLang="en-US" sz="2000">
                <a:latin typeface="黑体" panose="02010609060101010101" charset="-122"/>
                <a:ea typeface="黑体" panose="02010609060101010101" charset="-122"/>
              </a:rPr>
              <a:t>突变与肺癌：背景与靶标选择</a:t>
            </a:r>
            <a:endParaRPr lang="zh-CN" altLang="en-US" sz="2000">
              <a:latin typeface="黑体" panose="02010609060101010101" charset="-122"/>
              <a:ea typeface="黑体" panose="02010609060101010101" charset="-122"/>
            </a:endParaRPr>
          </a:p>
        </p:txBody>
      </p:sp>
      <p:sp>
        <p:nvSpPr>
          <p:cNvPr id="6160" name="文本框 2"/>
          <p:cNvSpPr txBox="1"/>
          <p:nvPr/>
        </p:nvSpPr>
        <p:spPr>
          <a:xfrm>
            <a:off x="251460" y="1574800"/>
            <a:ext cx="8429625" cy="4011295"/>
          </a:xfrm>
          <a:prstGeom prst="rect">
            <a:avLst/>
          </a:prstGeom>
          <a:noFill/>
          <a:ln w="9525">
            <a:noFill/>
          </a:ln>
        </p:spPr>
        <p:txBody>
          <a:bodyPr wrap="square" anchor="t" anchorCtr="0">
            <a:noAutofit/>
          </a:bodyPr>
          <a:p>
            <a:pPr marL="342900" indent="-342900" algn="just" defTabSz="266700">
              <a:lnSpc>
                <a:spcPct val="150000"/>
              </a:lnSpc>
              <a:buAutoNum type="arabicPeriod"/>
            </a:pP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是肺癌中最常见的致癌驱动基因之一，在非小细胞肺癌（</a:t>
            </a:r>
            <a:r>
              <a:rPr lang="en-US" altLang="zh-CN" sz="1600">
                <a:latin typeface="微软雅黑" panose="020B0503020204020204" charset="-122"/>
                <a:ea typeface="微软雅黑" panose="020B0503020204020204" charset="-122"/>
              </a:rPr>
              <a:t>NSCLC</a:t>
            </a:r>
            <a:r>
              <a:rPr lang="zh-CN" altLang="en-US" sz="1600">
                <a:latin typeface="微软雅黑" panose="020B0503020204020204" charset="-122"/>
                <a:ea typeface="微软雅黑" panose="020B0503020204020204" charset="-122"/>
              </a:rPr>
              <a:t>）中突变率约为</a:t>
            </a:r>
            <a:r>
              <a:rPr lang="en-US" altLang="zh-CN" sz="1600">
                <a:latin typeface="微软雅黑" panose="020B0503020204020204" charset="-122"/>
                <a:ea typeface="微软雅黑" panose="020B0503020204020204" charset="-122"/>
              </a:rPr>
              <a:t>20%-30%</a:t>
            </a:r>
            <a:r>
              <a:rPr lang="zh-CN" altLang="en-US" sz="1600">
                <a:latin typeface="微软雅黑" panose="020B0503020204020204" charset="-122"/>
                <a:ea typeface="微软雅黑" panose="020B0503020204020204" charset="-122"/>
              </a:rPr>
              <a:t>，不同病理亚型、人群的突变频率存在显著差异：在肺腺癌（</a:t>
            </a:r>
            <a:r>
              <a:rPr lang="en-US" altLang="zh-CN" sz="1600">
                <a:latin typeface="微软雅黑" panose="020B0503020204020204" charset="-122"/>
                <a:ea typeface="微软雅黑" panose="020B0503020204020204" charset="-122"/>
              </a:rPr>
              <a:t>NSCLC</a:t>
            </a:r>
            <a:r>
              <a:rPr lang="zh-CN" altLang="en-US" sz="1600">
                <a:latin typeface="微软雅黑" panose="020B0503020204020204" charset="-122"/>
                <a:ea typeface="微软雅黑" panose="020B0503020204020204" charset="-122"/>
              </a:rPr>
              <a:t>的主要亚型）中</a:t>
            </a: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突变率最高（</a:t>
            </a:r>
            <a:r>
              <a:rPr lang="en-US" altLang="zh-CN" sz="1600">
                <a:latin typeface="微软雅黑" panose="020B0503020204020204" charset="-122"/>
                <a:ea typeface="微软雅黑" panose="020B0503020204020204" charset="-122"/>
              </a:rPr>
              <a:t>25%-35%</a:t>
            </a:r>
            <a:r>
              <a:rPr lang="zh-CN" altLang="en-US" sz="1600">
                <a:latin typeface="微软雅黑" panose="020B0503020204020204" charset="-122"/>
                <a:ea typeface="微软雅黑" panose="020B0503020204020204" charset="-122"/>
              </a:rPr>
              <a:t>），肺鳞癌中突变率较低（</a:t>
            </a:r>
            <a:r>
              <a:rPr lang="en-US" altLang="zh-CN" sz="1600">
                <a:latin typeface="微软雅黑" panose="020B0503020204020204" charset="-122"/>
                <a:ea typeface="微软雅黑" panose="020B0503020204020204" charset="-122"/>
              </a:rPr>
              <a:t>&lt;5%</a:t>
            </a:r>
            <a:r>
              <a:rPr lang="zh-CN" altLang="en-US" sz="1600">
                <a:latin typeface="微软雅黑" panose="020B0503020204020204" charset="-122"/>
                <a:ea typeface="微软雅黑" panose="020B0503020204020204" charset="-122"/>
              </a:rPr>
              <a:t>），小细胞肺癌（约</a:t>
            </a:r>
            <a:r>
              <a:rPr lang="en-US" altLang="zh-CN" sz="1600">
                <a:latin typeface="微软雅黑" panose="020B0503020204020204" charset="-122"/>
                <a:ea typeface="微软雅黑" panose="020B0503020204020204" charset="-122"/>
              </a:rPr>
              <a:t>15%</a:t>
            </a:r>
            <a:r>
              <a:rPr lang="zh-CN" altLang="en-US" sz="1600">
                <a:latin typeface="微软雅黑" panose="020B0503020204020204" charset="-122"/>
                <a:ea typeface="微软雅黑" panose="020B0503020204020204" charset="-122"/>
              </a:rPr>
              <a:t>）中罕见。</a:t>
            </a:r>
            <a:endParaRPr lang="zh-CN" altLang="en-US" sz="1600">
              <a:latin typeface="微软雅黑" panose="020B0503020204020204" charset="-122"/>
              <a:ea typeface="微软雅黑" panose="020B0503020204020204" charset="-122"/>
            </a:endParaRPr>
          </a:p>
          <a:p>
            <a:pPr marL="342900" indent="-342900" algn="just" defTabSz="266700">
              <a:lnSpc>
                <a:spcPct val="150000"/>
              </a:lnSpc>
              <a:buAutoNum type="arabicPeriod"/>
            </a:pP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突变主要集中在第</a:t>
            </a:r>
            <a:r>
              <a:rPr lang="en-US" altLang="zh-CN" sz="1600">
                <a:latin typeface="微软雅黑" panose="020B0503020204020204" charset="-122"/>
                <a:ea typeface="微软雅黑" panose="020B0503020204020204" charset="-122"/>
              </a:rPr>
              <a:t>12</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13</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61</a:t>
            </a:r>
            <a:r>
              <a:rPr lang="zh-CN" altLang="en-US" sz="1600">
                <a:latin typeface="微软雅黑" panose="020B0503020204020204" charset="-122"/>
                <a:ea typeface="微软雅黑" panose="020B0503020204020204" charset="-122"/>
              </a:rPr>
              <a:t>位氨基酸，其中第</a:t>
            </a:r>
            <a:r>
              <a:rPr lang="en-US" altLang="zh-CN" sz="1600">
                <a:latin typeface="微软雅黑" panose="020B0503020204020204" charset="-122"/>
                <a:ea typeface="微软雅黑" panose="020B0503020204020204" charset="-122"/>
              </a:rPr>
              <a:t>12</a:t>
            </a:r>
            <a:r>
              <a:rPr lang="zh-CN" altLang="en-US" sz="1600">
                <a:latin typeface="微软雅黑" panose="020B0503020204020204" charset="-122"/>
                <a:ea typeface="微软雅黑" panose="020B0503020204020204" charset="-122"/>
              </a:rPr>
              <a:t>位（</a:t>
            </a:r>
            <a:r>
              <a:rPr lang="en-US" altLang="zh-CN" sz="1600">
                <a:latin typeface="微软雅黑" panose="020B0503020204020204" charset="-122"/>
                <a:ea typeface="微软雅黑" panose="020B0503020204020204" charset="-122"/>
              </a:rPr>
              <a:t>G12</a:t>
            </a:r>
            <a:r>
              <a:rPr lang="zh-CN" altLang="en-US" sz="1600">
                <a:latin typeface="微软雅黑" panose="020B0503020204020204" charset="-122"/>
                <a:ea typeface="微软雅黑" panose="020B0503020204020204" charset="-122"/>
              </a:rPr>
              <a:t>）是肺癌中最高频的突变位点，占所有</a:t>
            </a: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突变的</a:t>
            </a:r>
            <a:r>
              <a:rPr lang="en-US" altLang="zh-CN" sz="1600">
                <a:latin typeface="微软雅黑" panose="020B0503020204020204" charset="-122"/>
                <a:ea typeface="微软雅黑" panose="020B0503020204020204" charset="-122"/>
              </a:rPr>
              <a:t>70%-80%</a:t>
            </a:r>
            <a:r>
              <a:rPr lang="zh-CN" altLang="en-US" sz="1600">
                <a:latin typeface="微软雅黑" panose="020B0503020204020204" charset="-122"/>
                <a:ea typeface="微软雅黑" panose="020B0503020204020204" charset="-122"/>
              </a:rPr>
              <a:t>，具体突变类型及占比为</a:t>
            </a:r>
            <a:r>
              <a:rPr lang="en-US" altLang="zh-CN" sz="1600">
                <a:latin typeface="微软雅黑" panose="020B0503020204020204" charset="-122"/>
                <a:ea typeface="微软雅黑" panose="020B0503020204020204" charset="-122"/>
              </a:rPr>
              <a:t>G12C</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10%-15%</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G12D</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8%-10%</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G12V</a:t>
            </a:r>
            <a:r>
              <a:rPr lang="zh-CN" altLang="en-US" sz="1600">
                <a:latin typeface="微软雅黑" panose="020B0503020204020204" charset="-122"/>
                <a:ea typeface="微软雅黑" panose="020B0503020204020204" charset="-122"/>
              </a:rPr>
              <a:t>（</a:t>
            </a:r>
            <a:r>
              <a:rPr lang="en-US" altLang="zh-CN" sz="1600">
                <a:latin typeface="微软雅黑" panose="020B0503020204020204" charset="-122"/>
                <a:ea typeface="微软雅黑" panose="020B0503020204020204" charset="-122"/>
              </a:rPr>
              <a:t>5%-8%</a:t>
            </a:r>
            <a:r>
              <a:rPr lang="zh-CN" altLang="en-US" sz="1600">
                <a:latin typeface="微软雅黑" panose="020B0503020204020204" charset="-122"/>
                <a:ea typeface="微软雅黑" panose="020B0503020204020204" charset="-122"/>
              </a:rPr>
              <a:t>）是三大高频突变位点。</a:t>
            </a:r>
            <a:endParaRPr lang="zh-CN" altLang="en-US" sz="1600">
              <a:latin typeface="微软雅黑" panose="020B0503020204020204" charset="-122"/>
              <a:ea typeface="微软雅黑" panose="020B0503020204020204" charset="-122"/>
            </a:endParaRPr>
          </a:p>
          <a:p>
            <a:pPr marL="342900" indent="-342900" algn="just" defTabSz="266700">
              <a:lnSpc>
                <a:spcPct val="150000"/>
              </a:lnSpc>
              <a:buAutoNum type="arabicPeriod"/>
            </a:pPr>
            <a:r>
              <a:rPr lang="zh-CN" altLang="en-US" sz="1600">
                <a:latin typeface="微软雅黑" panose="020B0503020204020204" charset="-122"/>
                <a:ea typeface="微软雅黑" panose="020B0503020204020204" charset="-122"/>
              </a:rPr>
              <a:t>优先选择临床未满足需求高、结构可及性强的突变体</a:t>
            </a:r>
            <a:r>
              <a:rPr lang="en-US" altLang="zh-CN" sz="1600">
                <a:latin typeface="微软雅黑" panose="020B0503020204020204" charset="-122"/>
                <a:ea typeface="微软雅黑" panose="020B0503020204020204" charset="-122"/>
              </a:rPr>
              <a:t>,</a:t>
            </a:r>
            <a:r>
              <a:rPr lang="zh-CN" altLang="en-US" sz="1600">
                <a:latin typeface="微软雅黑" panose="020B0503020204020204" charset="-122"/>
                <a:ea typeface="微软雅黑" panose="020B0503020204020204" charset="-122"/>
              </a:rPr>
              <a:t>其中</a:t>
            </a:r>
            <a:r>
              <a:rPr lang="en-US" altLang="zh-CN" sz="1600">
                <a:latin typeface="微软雅黑" panose="020B0503020204020204" charset="-122"/>
                <a:ea typeface="微软雅黑" panose="020B0503020204020204" charset="-122"/>
              </a:rPr>
              <a:t>KRAS G12D</a:t>
            </a:r>
            <a:r>
              <a:rPr lang="zh-CN" altLang="en-US" sz="1600">
                <a:latin typeface="微软雅黑" panose="020B0503020204020204" charset="-122"/>
                <a:ea typeface="微软雅黑" panose="020B0503020204020204" charset="-122"/>
              </a:rPr>
              <a:t>是肺癌中第二高发的</a:t>
            </a: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突变亚型，其临床未满足需求远高于其他亚型：突变频率高，覆盖患者群体广。每年</a:t>
            </a:r>
            <a:r>
              <a:rPr lang="en-US" altLang="zh-CN" sz="1600">
                <a:latin typeface="微软雅黑" panose="020B0503020204020204" charset="-122"/>
                <a:ea typeface="微软雅黑" panose="020B0503020204020204" charset="-122"/>
              </a:rPr>
              <a:t>KRAS G12D</a:t>
            </a:r>
            <a:r>
              <a:rPr lang="zh-CN" altLang="en-US" sz="1600">
                <a:latin typeface="微软雅黑" panose="020B0503020204020204" charset="-122"/>
                <a:ea typeface="微软雅黑" panose="020B0503020204020204" charset="-122"/>
              </a:rPr>
              <a:t>突变肺癌患者超</a:t>
            </a:r>
            <a:r>
              <a:rPr lang="en-US" altLang="zh-CN" sz="1600">
                <a:latin typeface="微软雅黑" panose="020B0503020204020204" charset="-122"/>
                <a:ea typeface="微软雅黑" panose="020B0503020204020204" charset="-122"/>
              </a:rPr>
              <a:t>10</a:t>
            </a:r>
            <a:r>
              <a:rPr lang="zh-CN" altLang="en-US" sz="1600">
                <a:latin typeface="微软雅黑" panose="020B0503020204020204" charset="-122"/>
                <a:ea typeface="微软雅黑" panose="020B0503020204020204" charset="-122"/>
              </a:rPr>
              <a:t>万人，且这一群体目前无任何获批的靶向药物，完全依赖化疗、免疫治疗，临床需求极为迫切。</a:t>
            </a:r>
            <a:r>
              <a:rPr lang="en-US" altLang="zh-CN" sz="1600">
                <a:latin typeface="微软雅黑" panose="020B0503020204020204" charset="-122"/>
                <a:ea typeface="微软雅黑" panose="020B0503020204020204" charset="-122"/>
              </a:rPr>
              <a:t>   </a:t>
            </a:r>
            <a:endParaRPr lang="en-US" altLang="zh-CN" sz="160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8194"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195"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8196"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8197"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8198" name="Shape 5"/>
          <p:cNvSpPr/>
          <p:nvPr/>
        </p:nvSpPr>
        <p:spPr>
          <a:xfrm>
            <a:off x="-36512" y="594899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8199"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0"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1"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2"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3"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4"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5"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6"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7"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8" name="文本框 1"/>
          <p:cNvSpPr txBox="1"/>
          <p:nvPr/>
        </p:nvSpPr>
        <p:spPr>
          <a:xfrm>
            <a:off x="169863" y="147638"/>
            <a:ext cx="5595937" cy="398462"/>
          </a:xfrm>
          <a:prstGeom prst="rect">
            <a:avLst/>
          </a:prstGeom>
          <a:noFill/>
          <a:ln w="9525">
            <a:noFill/>
          </a:ln>
        </p:spPr>
        <p:txBody>
          <a:bodyPr wrap="square" anchor="t" anchorCtr="0">
            <a:spAutoFit/>
          </a:bodyPr>
          <a:p>
            <a:pPr algn="just" defTabSz="266700">
              <a:buAutoNum type="ea1ChsPeriod" startAt="2"/>
            </a:pPr>
            <a:r>
              <a:rPr lang="zh-CN" altLang="en-US" sz="2000">
                <a:latin typeface="黑体" panose="02010609060101010101" charset="-122"/>
                <a:ea typeface="黑体" panose="02010609060101010101" charset="-122"/>
              </a:rPr>
              <a:t>用</a:t>
            </a:r>
            <a:r>
              <a:rPr lang="en-US" altLang="zh-CN" sz="2000">
                <a:latin typeface="黑体" panose="02010609060101010101" charset="-122"/>
                <a:ea typeface="黑体" panose="02010609060101010101" charset="-122"/>
              </a:rPr>
              <a:t>AlphaFold</a:t>
            </a:r>
            <a:r>
              <a:rPr lang="zh-CN" altLang="en-US" sz="2000">
                <a:latin typeface="黑体" panose="02010609060101010101" charset="-122"/>
                <a:ea typeface="黑体" panose="02010609060101010101" charset="-122"/>
              </a:rPr>
              <a:t>预测</a:t>
            </a:r>
            <a:r>
              <a:rPr lang="en-US" altLang="zh-CN" sz="2000">
                <a:latin typeface="黑体" panose="02010609060101010101" charset="-122"/>
                <a:ea typeface="黑体" panose="02010609060101010101" charset="-122"/>
              </a:rPr>
              <a:t>KRAS</a:t>
            </a:r>
            <a:r>
              <a:rPr lang="zh-CN" altLang="en-US" sz="2000">
                <a:latin typeface="黑体" panose="02010609060101010101" charset="-122"/>
                <a:ea typeface="黑体" panose="02010609060101010101" charset="-122"/>
              </a:rPr>
              <a:t>突变体</a:t>
            </a:r>
            <a:r>
              <a:rPr lang="en-US" altLang="zh-CN" sz="2000">
                <a:latin typeface="黑体" panose="02010609060101010101" charset="-122"/>
                <a:ea typeface="黑体" panose="02010609060101010101" charset="-122"/>
              </a:rPr>
              <a:t>G12D</a:t>
            </a:r>
            <a:r>
              <a:rPr lang="zh-CN" altLang="en-US" sz="2000">
                <a:latin typeface="黑体" panose="02010609060101010101" charset="-122"/>
                <a:ea typeface="黑体" panose="02010609060101010101" charset="-122"/>
              </a:rPr>
              <a:t>三维结构</a:t>
            </a:r>
            <a:endParaRPr lang="zh-CN" altLang="en-US" sz="2000">
              <a:latin typeface="黑体" panose="02010609060101010101" charset="-122"/>
              <a:ea typeface="黑体" panose="02010609060101010101" charset="-122"/>
            </a:endParaRPr>
          </a:p>
        </p:txBody>
      </p:sp>
      <p:sp>
        <p:nvSpPr>
          <p:cNvPr id="8209" name="文本框 2"/>
          <p:cNvSpPr txBox="1"/>
          <p:nvPr/>
        </p:nvSpPr>
        <p:spPr>
          <a:xfrm>
            <a:off x="565150" y="2204720"/>
            <a:ext cx="7421563" cy="1322070"/>
          </a:xfrm>
          <a:prstGeom prst="rect">
            <a:avLst/>
          </a:prstGeom>
          <a:noFill/>
          <a:ln w="9525">
            <a:noFill/>
          </a:ln>
        </p:spPr>
        <p:txBody>
          <a:bodyPr wrap="square" anchor="t" anchorCtr="0">
            <a:spAutoFit/>
          </a:bodyPr>
          <a:p>
            <a:pPr indent="266700" algn="just" defTabSz="266700"/>
            <a:r>
              <a:rPr lang="en-US" altLang="zh-CN" sz="1600">
                <a:latin typeface="微软雅黑" panose="020B0503020204020204" charset="-122"/>
                <a:ea typeface="微软雅黑" panose="020B0503020204020204" charset="-122"/>
              </a:rPr>
              <a:t>KRAS G12D </a:t>
            </a:r>
            <a:r>
              <a:rPr lang="zh-CN" altLang="en-US" sz="1600">
                <a:latin typeface="微软雅黑" panose="020B0503020204020204" charset="-122"/>
                <a:ea typeface="微软雅黑" panose="020B0503020204020204" charset="-122"/>
              </a:rPr>
              <a:t>突变体序列：</a:t>
            </a:r>
            <a:endParaRPr lang="zh-CN" altLang="en-US" sz="1600">
              <a:latin typeface="微软雅黑" panose="020B0503020204020204" charset="-122"/>
              <a:ea typeface="微软雅黑" panose="020B0503020204020204" charset="-122"/>
            </a:endParaRPr>
          </a:p>
          <a:p>
            <a:pPr indent="266700" algn="just" defTabSz="266700"/>
            <a:r>
              <a:rPr lang="en-US" altLang="zh-CN" sz="1600">
                <a:latin typeface="微软雅黑" panose="020B0503020204020204" charset="-122"/>
                <a:ea typeface="微软雅黑" panose="020B0503020204020204" charset="-122"/>
              </a:rPr>
              <a:t>&gt;KRAS_G12D (1-166 aa, G12→D)</a:t>
            </a:r>
            <a:endParaRPr lang="en-US" altLang="zh-CN" sz="1600">
              <a:latin typeface="微软雅黑" panose="020B0503020204020204" charset="-122"/>
              <a:ea typeface="微软雅黑" panose="020B0503020204020204" charset="-122"/>
            </a:endParaRPr>
          </a:p>
          <a:p>
            <a:pPr indent="266700" algn="just" defTabSz="266700"/>
            <a:r>
              <a:rPr lang="en-US" altLang="zh-CN" sz="1600">
                <a:latin typeface="微软雅黑" panose="020B0503020204020204" charset="-122"/>
                <a:ea typeface="微软雅黑" panose="020B0503020204020204" charset="-122"/>
              </a:rPr>
              <a:t>MTEYKLVVVGA</a:t>
            </a:r>
            <a:r>
              <a:rPr lang="en-US" altLang="zh-CN" sz="1600">
                <a:highlight>
                  <a:srgbClr val="FFFF00"/>
                </a:highlight>
                <a:latin typeface="微软雅黑" panose="020B0503020204020204" charset="-122"/>
                <a:ea typeface="微软雅黑" panose="020B0503020204020204" charset="-122"/>
              </a:rPr>
              <a:t>D</a:t>
            </a:r>
            <a:r>
              <a:rPr lang="en-US" altLang="zh-CN" sz="1600">
                <a:latin typeface="微软雅黑" panose="020B0503020204020204" charset="-122"/>
                <a:ea typeface="微软雅黑" panose="020B0503020204020204" charset="-122"/>
              </a:rPr>
              <a:t>GVGKSALTIQLIQNHFVDEYDPTIEDSYRKQVVIDGETCLLDILDTAGQEEYSAMRDQYMRTGEGFLCVFAINNTKSFEDIHHYREQIKRVKDSEDVPMVLVGNKCDLPSRTVDTKQAQDLARSYGIPFIETSAKTRQRVEDAFYTLVREIRQY</a:t>
            </a:r>
            <a:endParaRPr lang="en-US" altLang="zh-CN" sz="1600">
              <a:latin typeface="微软雅黑" panose="020B0503020204020204" charset="-122"/>
              <a:ea typeface="微软雅黑" panose="020B0503020204020204" charset="-122"/>
            </a:endParaRPr>
          </a:p>
        </p:txBody>
      </p:sp>
      <p:sp>
        <p:nvSpPr>
          <p:cNvPr id="2" name="文本框 1"/>
          <p:cNvSpPr txBox="1"/>
          <p:nvPr/>
        </p:nvSpPr>
        <p:spPr>
          <a:xfrm>
            <a:off x="539750" y="1708785"/>
            <a:ext cx="7870825" cy="337185"/>
          </a:xfrm>
          <a:prstGeom prst="rect">
            <a:avLst/>
          </a:prstGeom>
        </p:spPr>
        <p:txBody>
          <a:bodyPr wrap="square">
            <a:spAutoFit/>
          </a:bodyPr>
          <a:p>
            <a:pPr algn="just" defTabSz="266700"/>
            <a:r>
              <a:rPr lang="en-US" altLang="zh-CN" sz="1600">
                <a:latin typeface="微软雅黑" panose="020B0503020204020204" charset="-122"/>
                <a:ea typeface="微软雅黑" panose="020B0503020204020204" charset="-122"/>
              </a:rPr>
              <a:t>从UniProt 数据库（https://www.uniprot.org/）获取人源KRAS全长序列</a:t>
            </a:r>
            <a:endParaRPr lang="en-US" altLang="zh-CN" sz="1600">
              <a:latin typeface="微软雅黑" panose="020B0503020204020204" charset="-122"/>
              <a:ea typeface="微软雅黑" panose="020B0503020204020204" charset="-122"/>
            </a:endParaRPr>
          </a:p>
        </p:txBody>
      </p:sp>
      <p:pic>
        <p:nvPicPr>
          <p:cNvPr id="-2147482622" name="图片 3"/>
          <p:cNvPicPr>
            <a:picLocks noChangeAspect="1"/>
          </p:cNvPicPr>
          <p:nvPr/>
        </p:nvPicPr>
        <p:blipFill>
          <a:blip r:embed="rId1"/>
          <a:stretch>
            <a:fillRect/>
          </a:stretch>
        </p:blipFill>
        <p:spPr>
          <a:xfrm>
            <a:off x="1187450" y="3606800"/>
            <a:ext cx="5881370" cy="1158240"/>
          </a:xfrm>
          <a:prstGeom prst="rect">
            <a:avLst/>
          </a:prstGeom>
          <a:noFill/>
          <a:ln w="9525">
            <a:noFill/>
          </a:ln>
        </p:spPr>
      </p:pic>
      <p:pic>
        <p:nvPicPr>
          <p:cNvPr id="-2147482621" name="图片 4"/>
          <p:cNvPicPr>
            <a:picLocks noChangeAspect="1"/>
          </p:cNvPicPr>
          <p:nvPr/>
        </p:nvPicPr>
        <p:blipFill>
          <a:blip r:embed="rId2"/>
          <a:stretch>
            <a:fillRect/>
          </a:stretch>
        </p:blipFill>
        <p:spPr>
          <a:xfrm>
            <a:off x="2123758" y="4832033"/>
            <a:ext cx="3488055" cy="1049655"/>
          </a:xfrm>
          <a:prstGeom prst="rect">
            <a:avLst/>
          </a:prstGeom>
          <a:noFill/>
          <a:ln w="9525">
            <a:noFill/>
          </a:ln>
        </p:spPr>
      </p:pic>
      <p:sp>
        <p:nvSpPr>
          <p:cNvPr id="3" name="文本框 2"/>
          <p:cNvSpPr txBox="1"/>
          <p:nvPr/>
        </p:nvSpPr>
        <p:spPr>
          <a:xfrm>
            <a:off x="1187450" y="476885"/>
            <a:ext cx="7397750" cy="829945"/>
          </a:xfrm>
          <a:prstGeom prst="rect">
            <a:avLst/>
          </a:prstGeom>
        </p:spPr>
        <p:txBody>
          <a:bodyPr wrap="square">
            <a:spAutoFit/>
          </a:bodyPr>
          <a:p>
            <a:pPr marL="0" indent="266700" algn="just" defTabSz="266700">
              <a:spcBef>
                <a:spcPct val="0"/>
              </a:spcBef>
              <a:spcAft>
                <a:spcPct val="0"/>
              </a:spcAft>
            </a:pPr>
            <a:r>
              <a:rPr lang="en-US" altLang="zh-CN" sz="1600">
                <a:latin typeface="宋体" panose="02010600030101010101" pitchFamily="2" charset="-122"/>
                <a:ea typeface="宋体" panose="02010600030101010101" pitchFamily="2" charset="-122"/>
              </a:rPr>
              <a:t> </a:t>
            </a:r>
            <a:r>
              <a:rPr lang="en-US" altLang="zh-CN" sz="1600">
                <a:latin typeface="微软雅黑" panose="020B0503020204020204" charset="-122"/>
                <a:ea typeface="微软雅黑" panose="020B0503020204020204" charset="-122"/>
              </a:rPr>
              <a:t>ColabFold官方Google Colab 笔记本</a:t>
            </a:r>
            <a:endParaRPr lang="en-US" altLang="zh-CN" sz="1600">
              <a:latin typeface="微软雅黑" panose="020B0503020204020204" charset="-122"/>
              <a:ea typeface="微软雅黑" panose="020B0503020204020204" charset="-122"/>
            </a:endParaRPr>
          </a:p>
          <a:p>
            <a:pPr marL="0" indent="266700" algn="just" defTabSz="266700">
              <a:spcBef>
                <a:spcPct val="0"/>
              </a:spcBef>
              <a:spcAft>
                <a:spcPct val="0"/>
              </a:spcAft>
            </a:pPr>
            <a:r>
              <a:rPr lang="en-US" altLang="zh-CN" sz="1600">
                <a:latin typeface="微软雅黑" panose="020B0503020204020204" charset="-122"/>
                <a:ea typeface="微软雅黑" panose="020B0503020204020204" charset="-122"/>
              </a:rPr>
              <a:t>(https://colab.research.google.com/github/sokrypton/ColabFold/blob/main/AlphaFold2.ipynb?pli=1#scrollTo=ADDuaolKmjGW）</a:t>
            </a:r>
            <a:endParaRPr lang="en-US" altLang="zh-CN" sz="1600">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8194"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195"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8196"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8197"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8198"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8199"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0"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1"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2"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3"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4"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5"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6"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7"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8208" name="文本框 1"/>
          <p:cNvSpPr txBox="1"/>
          <p:nvPr/>
        </p:nvSpPr>
        <p:spPr>
          <a:xfrm>
            <a:off x="188913" y="407988"/>
            <a:ext cx="5595937" cy="398462"/>
          </a:xfrm>
          <a:prstGeom prst="rect">
            <a:avLst/>
          </a:prstGeom>
          <a:noFill/>
          <a:ln w="9525">
            <a:noFill/>
          </a:ln>
        </p:spPr>
        <p:txBody>
          <a:bodyPr wrap="square" anchor="t" anchorCtr="0">
            <a:spAutoFit/>
          </a:bodyPr>
          <a:p>
            <a:pPr algn="just" defTabSz="266700">
              <a:buAutoNum type="ea1ChsPeriod" startAt="2"/>
            </a:pPr>
            <a:r>
              <a:rPr lang="zh-CN" altLang="en-US" sz="2000">
                <a:latin typeface="黑体" panose="02010609060101010101" charset="-122"/>
                <a:ea typeface="黑体" panose="02010609060101010101" charset="-122"/>
              </a:rPr>
              <a:t>用</a:t>
            </a:r>
            <a:r>
              <a:rPr lang="en-US" altLang="zh-CN" sz="2000">
                <a:latin typeface="黑体" panose="02010609060101010101" charset="-122"/>
                <a:ea typeface="黑体" panose="02010609060101010101" charset="-122"/>
              </a:rPr>
              <a:t>AlphaFold</a:t>
            </a:r>
            <a:r>
              <a:rPr lang="zh-CN" altLang="en-US" sz="2000">
                <a:latin typeface="黑体" panose="02010609060101010101" charset="-122"/>
                <a:ea typeface="黑体" panose="02010609060101010101" charset="-122"/>
              </a:rPr>
              <a:t>预测</a:t>
            </a:r>
            <a:r>
              <a:rPr lang="en-US" altLang="zh-CN" sz="2000">
                <a:latin typeface="黑体" panose="02010609060101010101" charset="-122"/>
                <a:ea typeface="黑体" panose="02010609060101010101" charset="-122"/>
              </a:rPr>
              <a:t>KRAS</a:t>
            </a:r>
            <a:r>
              <a:rPr lang="zh-CN" altLang="en-US" sz="2000">
                <a:latin typeface="黑体" panose="02010609060101010101" charset="-122"/>
                <a:ea typeface="黑体" panose="02010609060101010101" charset="-122"/>
              </a:rPr>
              <a:t>突变体</a:t>
            </a:r>
            <a:r>
              <a:rPr lang="en-US" altLang="zh-CN" sz="2000">
                <a:latin typeface="黑体" panose="02010609060101010101" charset="-122"/>
                <a:ea typeface="黑体" panose="02010609060101010101" charset="-122"/>
              </a:rPr>
              <a:t>G12D</a:t>
            </a:r>
            <a:r>
              <a:rPr lang="zh-CN" altLang="en-US" sz="2000">
                <a:latin typeface="黑体" panose="02010609060101010101" charset="-122"/>
                <a:ea typeface="黑体" panose="02010609060101010101" charset="-122"/>
              </a:rPr>
              <a:t>三维结构</a:t>
            </a:r>
            <a:endParaRPr lang="zh-CN" altLang="en-US" sz="2000">
              <a:latin typeface="黑体" panose="02010609060101010101" charset="-122"/>
              <a:ea typeface="黑体" panose="02010609060101010101" charset="-122"/>
            </a:endParaRPr>
          </a:p>
        </p:txBody>
      </p:sp>
      <p:sp>
        <p:nvSpPr>
          <p:cNvPr id="8209" name="文本框 2"/>
          <p:cNvSpPr txBox="1"/>
          <p:nvPr/>
        </p:nvSpPr>
        <p:spPr>
          <a:xfrm>
            <a:off x="466725" y="1568450"/>
            <a:ext cx="7421563" cy="1322070"/>
          </a:xfrm>
          <a:prstGeom prst="rect">
            <a:avLst/>
          </a:prstGeom>
          <a:noFill/>
          <a:ln w="9525">
            <a:noFill/>
          </a:ln>
        </p:spPr>
        <p:txBody>
          <a:bodyPr wrap="square" anchor="t" anchorCtr="0">
            <a:spAutoFit/>
          </a:bodyPr>
          <a:p>
            <a:pPr indent="266700" algn="just" defTabSz="266700"/>
            <a:r>
              <a:rPr lang="en-US" altLang="zh-CN" sz="1600">
                <a:latin typeface="微软雅黑" panose="020B0503020204020204" charset="-122"/>
                <a:ea typeface="微软雅黑" panose="020B0503020204020204" charset="-122"/>
              </a:rPr>
              <a:t>KRAS G12D </a:t>
            </a:r>
            <a:r>
              <a:rPr lang="zh-CN" altLang="en-US" sz="1600">
                <a:latin typeface="微软雅黑" panose="020B0503020204020204" charset="-122"/>
                <a:ea typeface="微软雅黑" panose="020B0503020204020204" charset="-122"/>
              </a:rPr>
              <a:t>突变体序列：</a:t>
            </a:r>
            <a:endParaRPr lang="zh-CN" altLang="en-US" sz="1600">
              <a:latin typeface="微软雅黑" panose="020B0503020204020204" charset="-122"/>
              <a:ea typeface="微软雅黑" panose="020B0503020204020204" charset="-122"/>
            </a:endParaRPr>
          </a:p>
          <a:p>
            <a:pPr indent="266700" algn="just" defTabSz="266700"/>
            <a:r>
              <a:rPr lang="en-US" altLang="zh-CN" sz="1600">
                <a:latin typeface="微软雅黑" panose="020B0503020204020204" charset="-122"/>
                <a:ea typeface="微软雅黑" panose="020B0503020204020204" charset="-122"/>
              </a:rPr>
              <a:t>&gt;KRAS_G12D (1-166 aa, G12→D)</a:t>
            </a:r>
            <a:endParaRPr lang="en-US" altLang="zh-CN" sz="1600">
              <a:latin typeface="微软雅黑" panose="020B0503020204020204" charset="-122"/>
              <a:ea typeface="微软雅黑" panose="020B0503020204020204" charset="-122"/>
            </a:endParaRPr>
          </a:p>
          <a:p>
            <a:pPr indent="266700" algn="just" defTabSz="266700"/>
            <a:r>
              <a:rPr lang="en-US" altLang="zh-CN" sz="1600">
                <a:latin typeface="微软雅黑" panose="020B0503020204020204" charset="-122"/>
                <a:ea typeface="微软雅黑" panose="020B0503020204020204" charset="-122"/>
              </a:rPr>
              <a:t>MTEYKLVVVGA</a:t>
            </a:r>
            <a:r>
              <a:rPr lang="en-US" altLang="zh-CN" sz="1600">
                <a:highlight>
                  <a:srgbClr val="FFFF00"/>
                </a:highlight>
                <a:latin typeface="微软雅黑" panose="020B0503020204020204" charset="-122"/>
                <a:ea typeface="微软雅黑" panose="020B0503020204020204" charset="-122"/>
              </a:rPr>
              <a:t>D</a:t>
            </a:r>
            <a:r>
              <a:rPr lang="en-US" altLang="zh-CN" sz="1600">
                <a:latin typeface="微软雅黑" panose="020B0503020204020204" charset="-122"/>
                <a:ea typeface="微软雅黑" panose="020B0503020204020204" charset="-122"/>
              </a:rPr>
              <a:t>GVGKSALTIQLIQNHFVDEYDPTIEDSYRKQVVIDGETCLLDILDTAGQEEYSAMRDQYMRTGEGFLCVFAINNTKSFEDIHHYREQIKRVKDSEDVPMVLVGNKCDLPSRTVDTKQAQDLARSYGIPFIETSAKTRQRVEDAFYTLVREIRQY</a:t>
            </a:r>
            <a:endParaRPr lang="en-US" altLang="zh-CN" sz="1600">
              <a:latin typeface="微软雅黑" panose="020B0503020204020204" charset="-122"/>
              <a:ea typeface="微软雅黑" panose="020B0503020204020204" charset="-122"/>
            </a:endParaRPr>
          </a:p>
        </p:txBody>
      </p:sp>
      <p:pic>
        <p:nvPicPr>
          <p:cNvPr id="8210" name="图片 3" descr="KRAS_G12D_1166_c24fb_plddt"/>
          <p:cNvPicPr>
            <a:picLocks noChangeAspect="1"/>
          </p:cNvPicPr>
          <p:nvPr/>
        </p:nvPicPr>
        <p:blipFill>
          <a:blip r:embed="rId1"/>
          <a:stretch>
            <a:fillRect/>
          </a:stretch>
        </p:blipFill>
        <p:spPr>
          <a:xfrm>
            <a:off x="682625" y="2921000"/>
            <a:ext cx="3562350" cy="2403475"/>
          </a:xfrm>
          <a:prstGeom prst="rect">
            <a:avLst/>
          </a:prstGeom>
          <a:noFill/>
          <a:ln w="9525">
            <a:noFill/>
          </a:ln>
        </p:spPr>
      </p:pic>
      <p:pic>
        <p:nvPicPr>
          <p:cNvPr id="8211" name="图片 -2147482621"/>
          <p:cNvPicPr>
            <a:picLocks noChangeAspect="1"/>
          </p:cNvPicPr>
          <p:nvPr/>
        </p:nvPicPr>
        <p:blipFill>
          <a:blip r:embed="rId2"/>
          <a:stretch>
            <a:fillRect/>
          </a:stretch>
        </p:blipFill>
        <p:spPr>
          <a:xfrm>
            <a:off x="5075238" y="3035300"/>
            <a:ext cx="2762250" cy="2044700"/>
          </a:xfrm>
          <a:prstGeom prst="rect">
            <a:avLst/>
          </a:prstGeom>
          <a:noFill/>
          <a:ln w="9525">
            <a:noFill/>
          </a:ln>
        </p:spPr>
      </p:pic>
      <p:sp>
        <p:nvSpPr>
          <p:cNvPr id="8212" name="文本框 3"/>
          <p:cNvSpPr txBox="1"/>
          <p:nvPr/>
        </p:nvSpPr>
        <p:spPr>
          <a:xfrm>
            <a:off x="1042988" y="5207000"/>
            <a:ext cx="4572000" cy="338138"/>
          </a:xfrm>
          <a:prstGeom prst="rect">
            <a:avLst/>
          </a:prstGeom>
          <a:noFill/>
          <a:ln w="9525">
            <a:noFill/>
          </a:ln>
        </p:spPr>
        <p:txBody>
          <a:bodyPr wrap="square" anchor="t" anchorCtr="0">
            <a:spAutoFit/>
          </a:bodyPr>
          <a:p>
            <a:r>
              <a:rPr lang="zh-CN" altLang="en-US" sz="1600">
                <a:latin typeface="微软雅黑" panose="020B0503020204020204" charset="-122"/>
                <a:ea typeface="微软雅黑" panose="020B0503020204020204" charset="-122"/>
              </a:rPr>
              <a:t>五个预测模型的</a:t>
            </a:r>
            <a:r>
              <a:rPr lang="en-US" altLang="zh-CN" sz="1600">
                <a:latin typeface="微软雅黑" panose="020B0503020204020204" charset="-122"/>
                <a:ea typeface="微软雅黑" panose="020B0503020204020204" charset="-122"/>
              </a:rPr>
              <a:t>IDDT</a:t>
            </a:r>
            <a:r>
              <a:rPr lang="zh-CN" altLang="en-US" sz="1600">
                <a:latin typeface="微软雅黑" panose="020B0503020204020204" charset="-122"/>
                <a:ea typeface="微软雅黑" panose="020B0503020204020204" charset="-122"/>
              </a:rPr>
              <a:t>评分</a:t>
            </a:r>
            <a:endParaRPr lang="zh-CN" altLang="en-US" sz="1600">
              <a:latin typeface="微软雅黑" panose="020B0503020204020204" charset="-122"/>
              <a:ea typeface="微软雅黑" panose="020B0503020204020204" charset="-122"/>
            </a:endParaRPr>
          </a:p>
        </p:txBody>
      </p:sp>
      <p:sp>
        <p:nvSpPr>
          <p:cNvPr id="8213" name="文本框 4"/>
          <p:cNvSpPr txBox="1"/>
          <p:nvPr/>
        </p:nvSpPr>
        <p:spPr>
          <a:xfrm>
            <a:off x="4859338" y="5103813"/>
            <a:ext cx="4572000" cy="398462"/>
          </a:xfrm>
          <a:prstGeom prst="rect">
            <a:avLst/>
          </a:prstGeom>
          <a:noFill/>
          <a:ln w="9525">
            <a:noFill/>
          </a:ln>
        </p:spPr>
        <p:txBody>
          <a:bodyPr wrap="square" anchor="t" anchorCtr="0">
            <a:spAutoFit/>
          </a:bodyPr>
          <a:p>
            <a:r>
              <a:rPr lang="en-US" altLang="zh-CN" sz="2000">
                <a:latin typeface="黑体" panose="02010609060101010101" charset="-122"/>
                <a:ea typeface="黑体" panose="02010609060101010101" charset="-122"/>
              </a:rPr>
              <a:t>KRAS</a:t>
            </a:r>
            <a:r>
              <a:rPr lang="zh-CN" altLang="en-US" sz="2000">
                <a:latin typeface="黑体" panose="02010609060101010101" charset="-122"/>
                <a:ea typeface="黑体" panose="02010609060101010101" charset="-122"/>
              </a:rPr>
              <a:t>突变体</a:t>
            </a:r>
            <a:r>
              <a:rPr lang="en-US" altLang="zh-CN" sz="2000">
                <a:latin typeface="黑体" panose="02010609060101010101" charset="-122"/>
                <a:ea typeface="黑体" panose="02010609060101010101" charset="-122"/>
              </a:rPr>
              <a:t>G12D</a:t>
            </a:r>
            <a:r>
              <a:rPr lang="zh-CN" altLang="en-US" sz="2000">
                <a:latin typeface="黑体" panose="02010609060101010101" charset="-122"/>
                <a:ea typeface="黑体" panose="02010609060101010101" charset="-122"/>
              </a:rPr>
              <a:t>模型一的三维结构</a:t>
            </a:r>
            <a:endParaRPr lang="zh-CN" altLang="en-US" sz="2000">
              <a:latin typeface="黑体" panose="02010609060101010101" charset="-122"/>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0242"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43"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10244"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10245"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10246"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0247"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48"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49"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0"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1"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2"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3"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4"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5"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0256" name="文本框 1"/>
          <p:cNvSpPr txBox="1"/>
          <p:nvPr/>
        </p:nvSpPr>
        <p:spPr>
          <a:xfrm>
            <a:off x="188913" y="336550"/>
            <a:ext cx="5792787" cy="398463"/>
          </a:xfrm>
          <a:prstGeom prst="rect">
            <a:avLst/>
          </a:prstGeom>
          <a:noFill/>
          <a:ln w="9525">
            <a:noFill/>
          </a:ln>
        </p:spPr>
        <p:txBody>
          <a:bodyPr wrap="square" anchor="t" anchorCtr="0">
            <a:spAutoFit/>
          </a:bodyPr>
          <a:p>
            <a:pPr algn="just" defTabSz="266700"/>
            <a:r>
              <a:rPr lang="zh-CN" altLang="en-US" sz="2000">
                <a:latin typeface="黑体" panose="02010609060101010101" charset="-122"/>
                <a:ea typeface="黑体" panose="02010609060101010101" charset="-122"/>
              </a:rPr>
              <a:t>三、用</a:t>
            </a:r>
            <a:r>
              <a:rPr lang="en-US" altLang="zh-CN" sz="2000">
                <a:latin typeface="黑体" panose="02010609060101010101" charset="-122"/>
                <a:ea typeface="黑体" panose="02010609060101010101" charset="-122"/>
              </a:rPr>
              <a:t>PyMOL</a:t>
            </a:r>
            <a:r>
              <a:rPr lang="zh-CN" altLang="en-US" sz="2000">
                <a:latin typeface="黑体" panose="02010609060101010101" charset="-122"/>
                <a:ea typeface="黑体" panose="02010609060101010101" charset="-122"/>
              </a:rPr>
              <a:t>分析</a:t>
            </a:r>
            <a:r>
              <a:rPr lang="en-US" altLang="zh-CN" sz="2000">
                <a:latin typeface="黑体" panose="02010609060101010101" charset="-122"/>
                <a:ea typeface="黑体" panose="02010609060101010101" charset="-122"/>
              </a:rPr>
              <a:t>KRAS</a:t>
            </a:r>
            <a:r>
              <a:rPr lang="zh-CN" altLang="en-US" sz="2000">
                <a:latin typeface="黑体" panose="02010609060101010101" charset="-122"/>
                <a:ea typeface="黑体" panose="02010609060101010101" charset="-122"/>
              </a:rPr>
              <a:t>突变体的潜在结合口袋</a:t>
            </a:r>
            <a:endParaRPr lang="zh-CN" altLang="en-US" sz="2000">
              <a:latin typeface="黑体" panose="02010609060101010101" charset="-122"/>
              <a:ea typeface="黑体" panose="02010609060101010101" charset="-122"/>
            </a:endParaRPr>
          </a:p>
        </p:txBody>
      </p:sp>
      <p:sp>
        <p:nvSpPr>
          <p:cNvPr id="10257" name="文本框 2"/>
          <p:cNvSpPr txBox="1"/>
          <p:nvPr/>
        </p:nvSpPr>
        <p:spPr>
          <a:xfrm>
            <a:off x="323533" y="1518920"/>
            <a:ext cx="8308975" cy="830263"/>
          </a:xfrm>
          <a:prstGeom prst="rect">
            <a:avLst/>
          </a:prstGeom>
          <a:noFill/>
          <a:ln w="9525">
            <a:noFill/>
          </a:ln>
        </p:spPr>
        <p:txBody>
          <a:bodyPr wrap="square" anchor="t" anchorCtr="0">
            <a:spAutoFit/>
          </a:bodyPr>
          <a:p>
            <a:pPr indent="266700" algn="just" defTabSz="266700"/>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的成药口袋主要有两类：</a:t>
            </a:r>
            <a:r>
              <a:rPr lang="en-US" altLang="zh-CN" sz="1600">
                <a:latin typeface="微软雅黑" panose="020B0503020204020204" charset="-122"/>
                <a:ea typeface="微软雅黑" panose="020B0503020204020204" charset="-122"/>
              </a:rPr>
              <a:t>GTP</a:t>
            </a:r>
            <a:r>
              <a:rPr lang="zh-CN" altLang="en-US" sz="1600">
                <a:latin typeface="微软雅黑" panose="020B0503020204020204" charset="-122"/>
                <a:ea typeface="微软雅黑" panose="020B0503020204020204" charset="-122"/>
              </a:rPr>
              <a:t>竞争口袋（亲和力过高，药物难竞争）和变构口袋（开关</a:t>
            </a:r>
            <a:r>
              <a:rPr lang="en-US" altLang="zh-CN" sz="1600">
                <a:latin typeface="微软雅黑" panose="020B0503020204020204" charset="-122"/>
                <a:ea typeface="微软雅黑" panose="020B0503020204020204" charset="-122"/>
              </a:rPr>
              <a:t>II</a:t>
            </a:r>
            <a:r>
              <a:rPr lang="zh-CN" altLang="en-US" sz="1600">
                <a:latin typeface="微软雅黑" panose="020B0503020204020204" charset="-122"/>
                <a:ea typeface="微软雅黑" panose="020B0503020204020204" charset="-122"/>
              </a:rPr>
              <a:t>区构象变化形成）。</a:t>
            </a:r>
            <a:r>
              <a:rPr lang="en-US" altLang="zh-CN" sz="1600">
                <a:latin typeface="微软雅黑" panose="020B0503020204020204" charset="-122"/>
                <a:ea typeface="微软雅黑" panose="020B0503020204020204" charset="-122"/>
              </a:rPr>
              <a:t>PyMOL</a:t>
            </a:r>
            <a:r>
              <a:rPr lang="zh-CN" altLang="en-US" sz="1600">
                <a:latin typeface="微软雅黑" panose="020B0503020204020204" charset="-122"/>
                <a:ea typeface="微软雅黑" panose="020B0503020204020204" charset="-122"/>
              </a:rPr>
              <a:t>是一款强大的分子可视化与分析工具，可精准定位</a:t>
            </a: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突变体（如</a:t>
            </a:r>
            <a:r>
              <a:rPr lang="en-US" altLang="zh-CN" sz="1600">
                <a:latin typeface="微软雅黑" panose="020B0503020204020204" charset="-122"/>
                <a:ea typeface="微软雅黑" panose="020B0503020204020204" charset="-122"/>
              </a:rPr>
              <a:t>G12D</a:t>
            </a:r>
            <a:r>
              <a:rPr lang="zh-CN" altLang="en-US" sz="1600">
                <a:latin typeface="微软雅黑" panose="020B0503020204020204" charset="-122"/>
                <a:ea typeface="微软雅黑" panose="020B0503020204020204" charset="-122"/>
              </a:rPr>
              <a:t>）的潜在药物结合口袋（尤其是变构口袋），并标记关键作用残基。</a:t>
            </a:r>
            <a:endParaRPr lang="zh-CN" altLang="en-US" sz="1600">
              <a:latin typeface="微软雅黑" panose="020B0503020204020204" charset="-122"/>
              <a:ea typeface="微软雅黑" panose="020B0503020204020204" charset="-122"/>
            </a:endParaRPr>
          </a:p>
        </p:txBody>
      </p:sp>
      <p:sp>
        <p:nvSpPr>
          <p:cNvPr id="4" name="文本框 3"/>
          <p:cNvSpPr txBox="1"/>
          <p:nvPr/>
        </p:nvSpPr>
        <p:spPr>
          <a:xfrm>
            <a:off x="3851593" y="2420938"/>
            <a:ext cx="5080000" cy="3046095"/>
          </a:xfrm>
          <a:prstGeom prst="rect">
            <a:avLst/>
          </a:prstGeom>
        </p:spPr>
        <p:txBody>
          <a:bodyPr>
            <a:spAutoFit/>
          </a:bodyPr>
          <a:p>
            <a:pPr algn="just" defTabSz="266700"/>
            <a:r>
              <a:rPr lang="zh-CN" altLang="en-US" sz="1600" noProof="1">
                <a:latin typeface="微软雅黑" panose="020B0503020204020204" charset="-122"/>
                <a:ea typeface="微软雅黑" panose="020B0503020204020204" charset="-122"/>
                <a:cs typeface="微软雅黑" panose="020B0503020204020204" charset="-122"/>
              </a:rPr>
              <a:t>总结关键发现，为后续药物设计提供依据：</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p"/>
            </a:pPr>
            <a:r>
              <a:rPr lang="zh-CN" altLang="en-US" sz="1600" noProof="1">
                <a:latin typeface="微软雅黑" panose="020B0503020204020204" charset="-122"/>
                <a:ea typeface="微软雅黑" panose="020B0503020204020204" charset="-122"/>
                <a:cs typeface="微软雅黑" panose="020B0503020204020204" charset="-122"/>
              </a:rPr>
              <a:t>口袋位置：位于开关</a:t>
            </a:r>
            <a:r>
              <a:rPr lang="en-US" altLang="zh-CN" sz="1600" noProof="1">
                <a:latin typeface="微软雅黑" panose="020B0503020204020204" charset="-122"/>
                <a:ea typeface="微软雅黑" panose="020B0503020204020204" charset="-122"/>
                <a:cs typeface="微软雅黑" panose="020B0503020204020204" charset="-122"/>
              </a:rPr>
              <a:t> II </a:t>
            </a:r>
            <a:r>
              <a:rPr lang="zh-CN" altLang="en-US" sz="1600" noProof="1">
                <a:latin typeface="微软雅黑" panose="020B0503020204020204" charset="-122"/>
                <a:ea typeface="微软雅黑" panose="020B0503020204020204" charset="-122"/>
                <a:cs typeface="微软雅黑" panose="020B0503020204020204" charset="-122"/>
              </a:rPr>
              <a:t>区（</a:t>
            </a:r>
            <a:r>
              <a:rPr lang="en-US" altLang="zh-CN" sz="1600" noProof="1">
                <a:latin typeface="微软雅黑" panose="020B0503020204020204" charset="-122"/>
                <a:ea typeface="微软雅黑" panose="020B0503020204020204" charset="-122"/>
                <a:cs typeface="微软雅黑" panose="020B0503020204020204" charset="-122"/>
              </a:rPr>
              <a:t>55-76 </a:t>
            </a:r>
            <a:r>
              <a:rPr lang="zh-CN" altLang="en-US" sz="1600" noProof="1">
                <a:latin typeface="微软雅黑" panose="020B0503020204020204" charset="-122"/>
                <a:ea typeface="微软雅黑" panose="020B0503020204020204" charset="-122"/>
                <a:cs typeface="微软雅黑" panose="020B0503020204020204" charset="-122"/>
              </a:rPr>
              <a:t>位）与</a:t>
            </a:r>
            <a:r>
              <a:rPr lang="en-US" altLang="zh-CN" sz="1600" noProof="1">
                <a:latin typeface="微软雅黑" panose="020B0503020204020204" charset="-122"/>
                <a:ea typeface="微软雅黑" panose="020B0503020204020204" charset="-122"/>
                <a:cs typeface="微软雅黑" panose="020B0503020204020204" charset="-122"/>
              </a:rPr>
              <a:t> α3 </a:t>
            </a:r>
            <a:r>
              <a:rPr lang="zh-CN" altLang="en-US" sz="1600" noProof="1">
                <a:latin typeface="微软雅黑" panose="020B0503020204020204" charset="-122"/>
                <a:ea typeface="微软雅黑" panose="020B0503020204020204" charset="-122"/>
                <a:cs typeface="微软雅黑" panose="020B0503020204020204" charset="-122"/>
              </a:rPr>
              <a:t>螺旋（</a:t>
            </a:r>
            <a:r>
              <a:rPr lang="en-US" altLang="zh-CN" sz="1600" noProof="1">
                <a:latin typeface="微软雅黑" panose="020B0503020204020204" charset="-122"/>
                <a:ea typeface="微软雅黑" panose="020B0503020204020204" charset="-122"/>
                <a:cs typeface="微软雅黑" panose="020B0503020204020204" charset="-122"/>
              </a:rPr>
              <a:t>86-99 </a:t>
            </a:r>
            <a:r>
              <a:rPr lang="zh-CN" altLang="en-US" sz="1600" noProof="1">
                <a:latin typeface="微软雅黑" panose="020B0503020204020204" charset="-122"/>
                <a:ea typeface="微软雅黑" panose="020B0503020204020204" charset="-122"/>
                <a:cs typeface="微软雅黑" panose="020B0503020204020204" charset="-122"/>
              </a:rPr>
              <a:t>位）之间，呈凹陷状。</a:t>
            </a:r>
            <a:endParaRPr lang="zh-CN" altLang="en-US" sz="1600" noProof="1">
              <a:latin typeface="微软雅黑" panose="020B0503020204020204" charset="-122"/>
              <a:ea typeface="微软雅黑" panose="020B0503020204020204" charset="-122"/>
              <a:cs typeface="微软雅黑" panose="020B0503020204020204" charset="-122"/>
            </a:endParaRPr>
          </a:p>
          <a:p>
            <a:pPr algn="just" defTabSz="266700"/>
            <a:r>
              <a:rPr lang="zh-CN" altLang="en-US" sz="1600" noProof="1">
                <a:latin typeface="微软雅黑" panose="020B0503020204020204" charset="-122"/>
                <a:ea typeface="微软雅黑" panose="020B0503020204020204" charset="-122"/>
                <a:cs typeface="微软雅黑" panose="020B0503020204020204" charset="-122"/>
              </a:rPr>
              <a:t>核心残基：含</a:t>
            </a:r>
            <a:r>
              <a:rPr lang="en-US" altLang="zh-CN" sz="1600" noProof="1">
                <a:latin typeface="微软雅黑" panose="020B0503020204020204" charset="-122"/>
                <a:ea typeface="微软雅黑" panose="020B0503020204020204" charset="-122"/>
                <a:cs typeface="微软雅黑" panose="020B0503020204020204" charset="-122"/>
              </a:rPr>
              <a:t> 3 </a:t>
            </a:r>
            <a:r>
              <a:rPr lang="zh-CN" altLang="en-US" sz="1600" noProof="1">
                <a:latin typeface="微软雅黑" panose="020B0503020204020204" charset="-122"/>
                <a:ea typeface="微软雅黑" panose="020B0503020204020204" charset="-122"/>
                <a:cs typeface="微软雅黑" panose="020B0503020204020204" charset="-122"/>
              </a:rPr>
              <a:t>个氢键位点（</a:t>
            </a:r>
            <a:r>
              <a:rPr lang="en-US" altLang="zh-CN" sz="1600" noProof="1">
                <a:latin typeface="微软雅黑" panose="020B0503020204020204" charset="-122"/>
                <a:ea typeface="微软雅黑" panose="020B0503020204020204" charset="-122"/>
                <a:cs typeface="微软雅黑" panose="020B0503020204020204" charset="-122"/>
              </a:rPr>
              <a:t>Asp57</a:t>
            </a:r>
            <a:r>
              <a:rPr lang="zh-CN" altLang="en-US" sz="1600" noProof="1">
                <a:latin typeface="微软雅黑" panose="020B0503020204020204" charset="-122"/>
                <a:ea typeface="微软雅黑" panose="020B0503020204020204" charset="-122"/>
                <a:cs typeface="微软雅黑" panose="020B0503020204020204" charset="-122"/>
              </a:rPr>
              <a:t>、</a:t>
            </a:r>
            <a:r>
              <a:rPr lang="en-US" altLang="zh-CN" sz="1600" noProof="1">
                <a:latin typeface="微软雅黑" panose="020B0503020204020204" charset="-122"/>
                <a:ea typeface="微软雅黑" panose="020B0503020204020204" charset="-122"/>
                <a:cs typeface="微软雅黑" panose="020B0503020204020204" charset="-122"/>
              </a:rPr>
              <a:t>Gln61</a:t>
            </a:r>
            <a:r>
              <a:rPr lang="zh-CN" altLang="en-US" sz="1600" noProof="1">
                <a:latin typeface="微软雅黑" panose="020B0503020204020204" charset="-122"/>
                <a:ea typeface="微软雅黑" panose="020B0503020204020204" charset="-122"/>
                <a:cs typeface="微软雅黑" panose="020B0503020204020204" charset="-122"/>
              </a:rPr>
              <a:t>、</a:t>
            </a:r>
            <a:r>
              <a:rPr lang="en-US" altLang="zh-CN" sz="1600" noProof="1">
                <a:latin typeface="微软雅黑" panose="020B0503020204020204" charset="-122"/>
                <a:ea typeface="微软雅黑" panose="020B0503020204020204" charset="-122"/>
                <a:cs typeface="微软雅黑" panose="020B0503020204020204" charset="-122"/>
              </a:rPr>
              <a:t>Thr97</a:t>
            </a:r>
            <a:r>
              <a:rPr lang="zh-CN" altLang="en-US" sz="1600" noProof="1">
                <a:latin typeface="微软雅黑" panose="020B0503020204020204" charset="-122"/>
                <a:ea typeface="微软雅黑" panose="020B0503020204020204" charset="-122"/>
                <a:cs typeface="微软雅黑" panose="020B0503020204020204" charset="-122"/>
              </a:rPr>
              <a:t>）。</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p"/>
            </a:pPr>
            <a:r>
              <a:rPr lang="zh-CN" altLang="en-US" sz="1600" noProof="1">
                <a:latin typeface="微软雅黑" panose="020B0503020204020204" charset="-122"/>
                <a:ea typeface="微软雅黑" panose="020B0503020204020204" charset="-122"/>
                <a:cs typeface="微软雅黑" panose="020B0503020204020204" charset="-122"/>
              </a:rPr>
              <a:t>成药优势：容积约</a:t>
            </a:r>
            <a:r>
              <a:rPr lang="en-US" altLang="zh-CN" sz="1600" noProof="1">
                <a:latin typeface="微软雅黑" panose="020B0503020204020204" charset="-122"/>
                <a:ea typeface="微软雅黑" panose="020B0503020204020204" charset="-122"/>
                <a:cs typeface="微软雅黑" panose="020B0503020204020204" charset="-122"/>
              </a:rPr>
              <a:t>350Å³</a:t>
            </a:r>
            <a:r>
              <a:rPr lang="zh-CN" altLang="en-US" sz="1600" noProof="1">
                <a:latin typeface="微软雅黑" panose="020B0503020204020204" charset="-122"/>
                <a:ea typeface="微软雅黑" panose="020B0503020204020204" charset="-122"/>
                <a:cs typeface="微软雅黑" panose="020B0503020204020204" charset="-122"/>
              </a:rPr>
              <a:t>，构象稳定（</a:t>
            </a:r>
            <a:r>
              <a:rPr lang="en-US" altLang="zh-CN" sz="1600" noProof="1">
                <a:latin typeface="微软雅黑" panose="020B0503020204020204" charset="-122"/>
                <a:ea typeface="微软雅黑" panose="020B0503020204020204" charset="-122"/>
                <a:cs typeface="微软雅黑" panose="020B0503020204020204" charset="-122"/>
              </a:rPr>
              <a:t>AlphaFold pLDDT≥80</a:t>
            </a:r>
            <a:r>
              <a:rPr lang="zh-CN" altLang="en-US" sz="1600" noProof="1">
                <a:latin typeface="微软雅黑" panose="020B0503020204020204" charset="-122"/>
                <a:ea typeface="微软雅黑" panose="020B0503020204020204" charset="-122"/>
                <a:cs typeface="微软雅黑" panose="020B0503020204020204" charset="-122"/>
              </a:rPr>
              <a:t>），无明显柔性区域。</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p"/>
            </a:pPr>
            <a:r>
              <a:rPr lang="en-US" altLang="zh-CN" sz="1600" noProof="1">
                <a:latin typeface="微软雅黑" panose="020B0503020204020204" charset="-122"/>
                <a:ea typeface="微软雅黑" panose="020B0503020204020204" charset="-122"/>
                <a:cs typeface="微软雅黑" panose="020B0503020204020204" charset="-122"/>
              </a:rPr>
              <a:t>    </a:t>
            </a:r>
            <a:r>
              <a:rPr lang="zh-CN" altLang="en-US" sz="1600" b="1" noProof="1">
                <a:latin typeface="微软雅黑" panose="020B0503020204020204" charset="-122"/>
                <a:ea typeface="微软雅黑" panose="020B0503020204020204" charset="-122"/>
                <a:cs typeface="微软雅黑" panose="020B0503020204020204" charset="-122"/>
              </a:rPr>
              <a:t>设计建议：配体需包含</a:t>
            </a:r>
            <a:r>
              <a:rPr lang="en-US" altLang="zh-CN" sz="1600" b="1" noProof="1">
                <a:latin typeface="微软雅黑" panose="020B0503020204020204" charset="-122"/>
                <a:ea typeface="微软雅黑" panose="020B0503020204020204" charset="-122"/>
                <a:cs typeface="微软雅黑" panose="020B0503020204020204" charset="-122"/>
              </a:rPr>
              <a:t> </a:t>
            </a:r>
            <a:r>
              <a:rPr lang="zh-CN" altLang="en-US" sz="1600" b="1" noProof="1">
                <a:latin typeface="微软雅黑" panose="020B0503020204020204" charset="-122"/>
                <a:ea typeface="微软雅黑" panose="020B0503020204020204" charset="-122"/>
                <a:cs typeface="微软雅黑" panose="020B0503020204020204" charset="-122"/>
              </a:rPr>
              <a:t>“氢键基团（</a:t>
            </a:r>
            <a:r>
              <a:rPr lang="zh-CN" altLang="en-US" sz="1600" b="1" noProof="1">
                <a:highlight>
                  <a:srgbClr val="FFFF00"/>
                </a:highlight>
                <a:latin typeface="微软雅黑" panose="020B0503020204020204" charset="-122"/>
                <a:ea typeface="微软雅黑" panose="020B0503020204020204" charset="-122"/>
                <a:cs typeface="微软雅黑" panose="020B0503020204020204" charset="-122"/>
              </a:rPr>
              <a:t>如</a:t>
            </a:r>
            <a:r>
              <a:rPr lang="en-US" altLang="zh-CN" sz="1600" b="1" noProof="1">
                <a:highlight>
                  <a:srgbClr val="FFFF00"/>
                </a:highlight>
                <a:latin typeface="微软雅黑" panose="020B0503020204020204" charset="-122"/>
                <a:ea typeface="微软雅黑" panose="020B0503020204020204" charset="-122"/>
                <a:cs typeface="微软雅黑" panose="020B0503020204020204" charset="-122"/>
              </a:rPr>
              <a:t> - COOH</a:t>
            </a:r>
            <a:r>
              <a:rPr lang="zh-CN" altLang="en-US" sz="1600" b="1" noProof="1">
                <a:highlight>
                  <a:srgbClr val="FFFF00"/>
                </a:highlight>
                <a:latin typeface="微软雅黑" panose="020B0503020204020204" charset="-122"/>
                <a:ea typeface="微软雅黑" panose="020B0503020204020204" charset="-122"/>
                <a:cs typeface="微软雅黑" panose="020B0503020204020204" charset="-122"/>
              </a:rPr>
              <a:t>、</a:t>
            </a:r>
            <a:r>
              <a:rPr lang="en-US" altLang="zh-CN" sz="1600" b="1" noProof="1">
                <a:highlight>
                  <a:srgbClr val="FFFF00"/>
                </a:highlight>
                <a:latin typeface="微软雅黑" panose="020B0503020204020204" charset="-122"/>
                <a:ea typeface="微软雅黑" panose="020B0503020204020204" charset="-122"/>
                <a:cs typeface="微软雅黑" panose="020B0503020204020204" charset="-122"/>
              </a:rPr>
              <a:t>-CONH₂</a:t>
            </a:r>
            <a:r>
              <a:rPr lang="zh-CN" altLang="en-US" sz="1600" b="1" noProof="1">
                <a:latin typeface="微软雅黑" panose="020B0503020204020204" charset="-122"/>
                <a:ea typeface="微软雅黑" panose="020B0503020204020204" charset="-122"/>
                <a:cs typeface="微软雅黑" panose="020B0503020204020204" charset="-122"/>
              </a:rPr>
              <a:t>）</a:t>
            </a:r>
            <a:r>
              <a:rPr lang="en-US" altLang="zh-CN" sz="1600" b="1" noProof="1">
                <a:latin typeface="微软雅黑" panose="020B0503020204020204" charset="-122"/>
                <a:ea typeface="微软雅黑" panose="020B0503020204020204" charset="-122"/>
                <a:cs typeface="微软雅黑" panose="020B0503020204020204" charset="-122"/>
              </a:rPr>
              <a:t>+ </a:t>
            </a:r>
            <a:r>
              <a:rPr lang="zh-CN" altLang="en-US" sz="1600" b="1" noProof="1">
                <a:latin typeface="微软雅黑" panose="020B0503020204020204" charset="-122"/>
                <a:ea typeface="微软雅黑" panose="020B0503020204020204" charset="-122"/>
                <a:cs typeface="微软雅黑" panose="020B0503020204020204" charset="-122"/>
              </a:rPr>
              <a:t>疏水芳香环（如苯环、吲哚环）”，避免与</a:t>
            </a:r>
            <a:r>
              <a:rPr lang="en-US" altLang="zh-CN" sz="1600" b="1" noProof="1">
                <a:latin typeface="微软雅黑" panose="020B0503020204020204" charset="-122"/>
                <a:ea typeface="微软雅黑" panose="020B0503020204020204" charset="-122"/>
                <a:cs typeface="微软雅黑" panose="020B0503020204020204" charset="-122"/>
              </a:rPr>
              <a:t> G12D</a:t>
            </a:r>
            <a:r>
              <a:rPr lang="zh-CN" altLang="en-US" sz="1600" b="1" noProof="1">
                <a:latin typeface="微软雅黑" panose="020B0503020204020204" charset="-122"/>
                <a:ea typeface="微软雅黑" panose="020B0503020204020204" charset="-122"/>
                <a:cs typeface="微软雅黑" panose="020B0503020204020204" charset="-122"/>
              </a:rPr>
              <a:t>（</a:t>
            </a:r>
            <a:r>
              <a:rPr lang="en-US" altLang="zh-CN" sz="1600" b="1" noProof="1">
                <a:latin typeface="微软雅黑" panose="020B0503020204020204" charset="-122"/>
                <a:ea typeface="微软雅黑" panose="020B0503020204020204" charset="-122"/>
                <a:cs typeface="微软雅黑" panose="020B0503020204020204" charset="-122"/>
              </a:rPr>
              <a:t>Asp12</a:t>
            </a:r>
            <a:r>
              <a:rPr lang="zh-CN" altLang="en-US" sz="1600" b="1" noProof="1">
                <a:latin typeface="微软雅黑" panose="020B0503020204020204" charset="-122"/>
                <a:ea typeface="微软雅黑" panose="020B0503020204020204" charset="-122"/>
                <a:cs typeface="微软雅黑" panose="020B0503020204020204" charset="-122"/>
              </a:rPr>
              <a:t>）的负电侧链冲突。疏水环 </a:t>
            </a:r>
            <a:r>
              <a:rPr lang="en-US" altLang="zh-CN" sz="1600" b="1" noProof="1">
                <a:latin typeface="微软雅黑" panose="020B0503020204020204" charset="-122"/>
                <a:ea typeface="微软雅黑" panose="020B0503020204020204" charset="-122"/>
                <a:cs typeface="微软雅黑" panose="020B0503020204020204" charset="-122"/>
              </a:rPr>
              <a:t>+ </a:t>
            </a:r>
            <a:r>
              <a:rPr lang="zh-CN" altLang="en-US" sz="1600" b="1" noProof="1">
                <a:latin typeface="微软雅黑" panose="020B0503020204020204" charset="-122"/>
                <a:ea typeface="微软雅黑" panose="020B0503020204020204" charset="-122"/>
                <a:cs typeface="微软雅黑" panose="020B0503020204020204" charset="-122"/>
              </a:rPr>
              <a:t>氢键基团”</a:t>
            </a:r>
            <a:r>
              <a:rPr lang="en-US" altLang="zh-CN" sz="1600" b="1" noProof="1">
                <a:latin typeface="微软雅黑" panose="020B0503020204020204" charset="-122"/>
                <a:ea typeface="微软雅黑" panose="020B0503020204020204" charset="-122"/>
                <a:cs typeface="微软雅黑" panose="020B0503020204020204" charset="-122"/>
              </a:rPr>
              <a:t> </a:t>
            </a:r>
            <a:r>
              <a:rPr lang="zh-CN" altLang="en-US" sz="1600" b="1" noProof="1">
                <a:latin typeface="微软雅黑" panose="020B0503020204020204" charset="-122"/>
                <a:ea typeface="微软雅黑" panose="020B0503020204020204" charset="-122"/>
                <a:cs typeface="微软雅黑" panose="020B0503020204020204" charset="-122"/>
              </a:rPr>
              <a:t>的小分子，需适配</a:t>
            </a:r>
            <a:r>
              <a:rPr lang="en-US" altLang="zh-CN" sz="1600" b="1" noProof="1">
                <a:latin typeface="微软雅黑" panose="020B0503020204020204" charset="-122"/>
                <a:ea typeface="微软雅黑" panose="020B0503020204020204" charset="-122"/>
                <a:cs typeface="微软雅黑" panose="020B0503020204020204" charset="-122"/>
              </a:rPr>
              <a:t>Asp57</a:t>
            </a:r>
            <a:r>
              <a:rPr lang="zh-CN" altLang="en-US" sz="1600" b="1" noProof="1">
                <a:latin typeface="微软雅黑" panose="020B0503020204020204" charset="-122"/>
                <a:ea typeface="微软雅黑" panose="020B0503020204020204" charset="-122"/>
                <a:cs typeface="微软雅黑" panose="020B0503020204020204" charset="-122"/>
              </a:rPr>
              <a:t>的氢键作用，同时避免与 </a:t>
            </a:r>
            <a:r>
              <a:rPr lang="en-US" altLang="zh-CN" sz="1600" b="1" noProof="1">
                <a:latin typeface="微软雅黑" panose="020B0503020204020204" charset="-122"/>
                <a:ea typeface="微软雅黑" panose="020B0503020204020204" charset="-122"/>
                <a:cs typeface="微软雅黑" panose="020B0503020204020204" charset="-122"/>
              </a:rPr>
              <a:t>G12D </a:t>
            </a:r>
            <a:r>
              <a:rPr lang="zh-CN" altLang="en-US" sz="1600" b="1" noProof="1">
                <a:latin typeface="微软雅黑" panose="020B0503020204020204" charset="-122"/>
                <a:ea typeface="微软雅黑" panose="020B0503020204020204" charset="-122"/>
                <a:cs typeface="微软雅黑" panose="020B0503020204020204" charset="-122"/>
              </a:rPr>
              <a:t>残基空间冲突</a:t>
            </a:r>
            <a:endParaRPr lang="zh-CN" altLang="en-US" sz="1600" b="1" noProof="1">
              <a:latin typeface="微软雅黑" panose="020B0503020204020204" charset="-122"/>
              <a:ea typeface="微软雅黑" panose="020B0503020204020204" charset="-122"/>
              <a:cs typeface="微软雅黑" panose="020B0503020204020204" charset="-122"/>
            </a:endParaRPr>
          </a:p>
        </p:txBody>
      </p:sp>
      <p:pic>
        <p:nvPicPr>
          <p:cNvPr id="2" name="图片 -2147482608"/>
          <p:cNvPicPr>
            <a:picLocks noChangeAspect="1"/>
          </p:cNvPicPr>
          <p:nvPr/>
        </p:nvPicPr>
        <p:blipFill>
          <a:blip r:embed="rId1"/>
          <a:stretch>
            <a:fillRect/>
          </a:stretch>
        </p:blipFill>
        <p:spPr>
          <a:xfrm>
            <a:off x="106998" y="2633980"/>
            <a:ext cx="3571875" cy="27813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2290"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291"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12292"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12293"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12294"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2295"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296"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297"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298"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299"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300"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301"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303"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2304" name="文本框 1"/>
          <p:cNvSpPr txBox="1"/>
          <p:nvPr/>
        </p:nvSpPr>
        <p:spPr>
          <a:xfrm>
            <a:off x="466725" y="465138"/>
            <a:ext cx="5080000" cy="400050"/>
          </a:xfrm>
          <a:prstGeom prst="rect">
            <a:avLst/>
          </a:prstGeom>
          <a:noFill/>
          <a:ln w="9525">
            <a:noFill/>
          </a:ln>
        </p:spPr>
        <p:txBody>
          <a:bodyPr anchor="t" anchorCtr="0">
            <a:spAutoFit/>
          </a:bodyPr>
          <a:p>
            <a:pPr algn="just" defTabSz="266700"/>
            <a:r>
              <a:rPr lang="zh-CN" altLang="en-US" sz="2000">
                <a:latin typeface="黑体" panose="02010609060101010101" charset="-122"/>
                <a:ea typeface="黑体" panose="02010609060101010101" charset="-122"/>
              </a:rPr>
              <a:t>四、利用分子对接进行虚拟筛选</a:t>
            </a:r>
            <a:endParaRPr lang="zh-CN" altLang="en-US" sz="2000">
              <a:latin typeface="黑体" panose="02010609060101010101" charset="-122"/>
              <a:ea typeface="黑体" panose="02010609060101010101" charset="-122"/>
            </a:endParaRPr>
          </a:p>
        </p:txBody>
      </p:sp>
      <p:graphicFrame>
        <p:nvGraphicFramePr>
          <p:cNvPr id="3" name="表格 2"/>
          <p:cNvGraphicFramePr/>
          <p:nvPr/>
        </p:nvGraphicFramePr>
        <p:xfrm>
          <a:off x="395605" y="2780983"/>
          <a:ext cx="8542655" cy="1600200"/>
        </p:xfrm>
        <a:graphic>
          <a:graphicData uri="http://schemas.openxmlformats.org/drawingml/2006/table">
            <a:tbl>
              <a:tblPr/>
              <a:tblGrid>
                <a:gridCol w="1864995"/>
                <a:gridCol w="997585"/>
                <a:gridCol w="3804285"/>
                <a:gridCol w="1875790"/>
              </a:tblGrid>
              <a:tr h="0">
                <a:tc>
                  <a:txBody>
                    <a:bodyPr/>
                    <a:p>
                      <a:pPr marL="0" indent="0" algn="just">
                        <a:spcBef>
                          <a:spcPct val="0"/>
                        </a:spcBef>
                        <a:spcAft>
                          <a:spcPct val="0"/>
                        </a:spcAft>
                      </a:pPr>
                      <a:r>
                        <a:rPr lang="zh-CN" sz="1100">
                          <a:latin typeface="微软雅黑" panose="020B0503020204020204" charset="-122"/>
                          <a:ea typeface="微软雅黑" panose="020B0503020204020204" charset="-122"/>
                          <a:cs typeface="微软雅黑" panose="020B0503020204020204" charset="-122"/>
                        </a:rPr>
                        <a:t>候选分子</a:t>
                      </a:r>
                      <a:r>
                        <a:rPr lang="en-US" altLang="zh-CN" sz="1100">
                          <a:latin typeface="微软雅黑" panose="020B0503020204020204" charset="-122"/>
                          <a:ea typeface="微软雅黑" panose="020B0503020204020204" charset="-122"/>
                          <a:cs typeface="微软雅黑" panose="020B0503020204020204" charset="-122"/>
                        </a:rPr>
                        <a:t>ID</a:t>
                      </a:r>
                      <a:endParaRPr lang="en-US" altLang="zh-CN" sz="1100">
                        <a:latin typeface="微软雅黑" panose="020B0503020204020204" charset="-122"/>
                        <a:ea typeface="微软雅黑" panose="020B0503020204020204" charset="-122"/>
                        <a:cs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zh-CN" sz="1100">
                          <a:latin typeface="微软雅黑" panose="020B0503020204020204" charset="-122"/>
                          <a:ea typeface="微软雅黑" panose="020B0503020204020204" charset="-122"/>
                        </a:rPr>
                        <a:t>数据库来源</a:t>
                      </a:r>
                      <a:endParaRPr 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cs typeface="微软雅黑" panose="020B0503020204020204" charset="-122"/>
                        </a:rPr>
                        <a:t>SMILES</a:t>
                      </a:r>
                      <a:r>
                        <a:rPr lang="zh-CN" altLang="en-US" sz="1100">
                          <a:latin typeface="微软雅黑" panose="020B0503020204020204" charset="-122"/>
                          <a:ea typeface="微软雅黑" panose="020B0503020204020204" charset="-122"/>
                          <a:cs typeface="微软雅黑" panose="020B0503020204020204" charset="-122"/>
                        </a:rPr>
                        <a:t>（结构表达式）</a:t>
                      </a:r>
                      <a:endParaRPr lang="zh-CN" altLang="en-US" sz="1100">
                        <a:latin typeface="微软雅黑" panose="020B0503020204020204" charset="-122"/>
                        <a:ea typeface="微软雅黑" panose="020B0503020204020204" charset="-122"/>
                        <a:cs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zh-CN" sz="1100">
                          <a:latin typeface="微软雅黑" panose="020B0503020204020204" charset="-122"/>
                          <a:ea typeface="微软雅黑" panose="020B0503020204020204" charset="-122"/>
                          <a:cs typeface="微软雅黑" panose="020B0503020204020204" charset="-122"/>
                        </a:rPr>
                        <a:t>类药性质</a:t>
                      </a:r>
                      <a:endParaRPr lang="zh-CN" sz="1100">
                        <a:latin typeface="微软雅黑" panose="020B0503020204020204" charset="-122"/>
                        <a:ea typeface="微软雅黑" panose="020B0503020204020204" charset="-122"/>
                        <a:cs typeface="微软雅黑" panose="020B0503020204020204" charset="-122"/>
                      </a:endParaRPr>
                    </a:p>
                    <a:p>
                      <a:pPr marL="0" indent="0" algn="just">
                        <a:spcBef>
                          <a:spcPct val="0"/>
                        </a:spcBef>
                        <a:spcAft>
                          <a:spcPct val="0"/>
                        </a:spcAft>
                      </a:pPr>
                      <a:r>
                        <a:rPr lang="zh-CN" sz="1100">
                          <a:latin typeface="微软雅黑" panose="020B0503020204020204" charset="-122"/>
                          <a:ea typeface="微软雅黑" panose="020B0503020204020204" charset="-122"/>
                          <a:cs typeface="微软雅黑" panose="020B0503020204020204" charset="-122"/>
                        </a:rPr>
                        <a:t>（</a:t>
                      </a:r>
                      <a:r>
                        <a:rPr lang="en-US" altLang="zh-CN" sz="1100">
                          <a:latin typeface="微软雅黑" panose="020B0503020204020204" charset="-122"/>
                          <a:ea typeface="微软雅黑" panose="020B0503020204020204" charset="-122"/>
                          <a:cs typeface="微软雅黑" panose="020B0503020204020204" charset="-122"/>
                        </a:rPr>
                        <a:t>MW/LogP/HBA/HBD</a:t>
                      </a:r>
                      <a:r>
                        <a:rPr lang="zh-CN" altLang="en-US" sz="1100">
                          <a:latin typeface="微软雅黑" panose="020B0503020204020204" charset="-122"/>
                          <a:ea typeface="微软雅黑" panose="020B0503020204020204" charset="-122"/>
                          <a:cs typeface="微软雅黑" panose="020B0503020204020204" charset="-122"/>
                        </a:rPr>
                        <a:t>）</a:t>
                      </a:r>
                      <a:endParaRPr lang="zh-CN" sz="1100">
                        <a:latin typeface="微软雅黑" panose="020B0503020204020204" charset="-122"/>
                        <a:ea typeface="微软雅黑" panose="020B0503020204020204" charset="-122"/>
                        <a:cs typeface="微软雅黑" panose="020B0503020204020204" charset="-122"/>
                      </a:endParaRPr>
                    </a:p>
                  </a:txBody>
                  <a:tcPr marL="60960" marR="60960" marT="35560" marB="35560" anchor="ctr" anchorCtr="0">
                    <a:lnL>
                      <a:noFill/>
                    </a:lnL>
                    <a:lnR>
                      <a:noFill/>
                    </a:lnR>
                    <a:lnT>
                      <a:noFill/>
                    </a:lnT>
                    <a:lnB>
                      <a:noFill/>
                    </a:lnB>
                    <a:solidFill>
                      <a:srgbClr val="FFFFFF"/>
                    </a:solidFill>
                  </a:tcPr>
                </a:tc>
              </a:tr>
              <a:tr h="0">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ZINC000013584158</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ZINC</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highlight>
                            <a:srgbClr val="FFFF00"/>
                          </a:highlight>
                          <a:latin typeface="微软雅黑" panose="020B0503020204020204" charset="-122"/>
                          <a:ea typeface="微软雅黑" panose="020B0503020204020204" charset="-122"/>
                        </a:rPr>
                        <a:t>Cc1cnc2c1c</a:t>
                      </a:r>
                      <a:r>
                        <a:rPr lang="en-US" altLang="zh-CN" sz="1100">
                          <a:latin typeface="微软雅黑" panose="020B0503020204020204" charset="-122"/>
                          <a:ea typeface="微软雅黑" panose="020B0503020204020204" charset="-122"/>
                        </a:rPr>
                        <a:t>(=O)n(C)c</a:t>
                      </a:r>
                      <a:r>
                        <a:rPr lang="en-US" altLang="zh-CN" sz="1100">
                          <a:highlight>
                            <a:srgbClr val="FFFF00"/>
                          </a:highlight>
                          <a:latin typeface="微软雅黑" panose="020B0503020204020204" charset="-122"/>
                          <a:ea typeface="微软雅黑" panose="020B0503020204020204" charset="-122"/>
                        </a:rPr>
                        <a:t>(=O)</a:t>
                      </a:r>
                      <a:r>
                        <a:rPr lang="en-US" altLang="zh-CN" sz="1100">
                          <a:latin typeface="微软雅黑" panose="020B0503020204020204" charset="-122"/>
                          <a:ea typeface="微软雅黑" panose="020B0503020204020204" charset="-122"/>
                        </a:rPr>
                        <a:t>c2CC</a:t>
                      </a:r>
                      <a:r>
                        <a:rPr lang="en-US" altLang="zh-CN" sz="1100">
                          <a:highlight>
                            <a:srgbClr val="FFFF00"/>
                          </a:highlight>
                          <a:latin typeface="微软雅黑" panose="020B0503020204020204" charset="-122"/>
                          <a:ea typeface="微软雅黑" panose="020B0503020204020204" charset="-122"/>
                        </a:rPr>
                        <a:t>(=O)O</a:t>
                      </a:r>
                      <a:endParaRPr lang="en-US" altLang="zh-CN" sz="1100">
                        <a:highlight>
                          <a:srgbClr val="FFFF00"/>
                        </a:highlight>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326/2.8/7/2</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r>
              <a:tr h="0">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PubChemCID 10176216</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PubChem</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highlight>
                            <a:srgbClr val="FFFF00"/>
                          </a:highlight>
                          <a:latin typeface="微软雅黑" panose="020B0503020204020204" charset="-122"/>
                          <a:ea typeface="微软雅黑" panose="020B0503020204020204" charset="-122"/>
                        </a:rPr>
                        <a:t>C1=CC=C(C=C1)</a:t>
                      </a:r>
                      <a:r>
                        <a:rPr lang="en-US" altLang="zh-CN" sz="1100">
                          <a:latin typeface="微软雅黑" panose="020B0503020204020204" charset="-122"/>
                          <a:ea typeface="微软雅黑" panose="020B0503020204020204" charset="-122"/>
                        </a:rPr>
                        <a:t>C</a:t>
                      </a:r>
                      <a:r>
                        <a:rPr lang="en-US" altLang="zh-CN" sz="1100">
                          <a:highlight>
                            <a:srgbClr val="FFFF00"/>
                          </a:highlight>
                          <a:latin typeface="微软雅黑" panose="020B0503020204020204" charset="-122"/>
                          <a:ea typeface="微软雅黑" panose="020B0503020204020204" charset="-122"/>
                        </a:rPr>
                        <a:t>(=O)</a:t>
                      </a:r>
                      <a:r>
                        <a:rPr lang="en-US" altLang="zh-CN" sz="1100">
                          <a:latin typeface="微软雅黑" panose="020B0503020204020204" charset="-122"/>
                          <a:ea typeface="微软雅黑" panose="020B0503020204020204" charset="-122"/>
                        </a:rPr>
                        <a:t>NCC(=O)N2C=C(C=C2)Cl</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307/2.5/8/3</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r>
              <a:tr h="0">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ChEMBL 276487</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ChEMBL</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highlight>
                            <a:srgbClr val="FFFF00"/>
                          </a:highlight>
                          <a:latin typeface="微软雅黑" panose="020B0503020204020204" charset="-122"/>
                          <a:ea typeface="微软雅黑" panose="020B0503020204020204" charset="-122"/>
                        </a:rPr>
                        <a:t>C1=CN=C2C(=C1)</a:t>
                      </a:r>
                      <a:r>
                        <a:rPr lang="en-US" altLang="zh-CN" sz="1100">
                          <a:latin typeface="微软雅黑" panose="020B0503020204020204" charset="-122"/>
                          <a:ea typeface="微软雅黑" panose="020B0503020204020204" charset="-122"/>
                        </a:rPr>
                        <a:t>C</a:t>
                      </a:r>
                      <a:r>
                        <a:rPr lang="en-US" altLang="zh-CN" sz="1100">
                          <a:highlight>
                            <a:srgbClr val="FFFF00"/>
                          </a:highlight>
                          <a:latin typeface="微软雅黑" panose="020B0503020204020204" charset="-122"/>
                          <a:ea typeface="微软雅黑" panose="020B0503020204020204" charset="-122"/>
                        </a:rPr>
                        <a:t>(=O)</a:t>
                      </a:r>
                      <a:r>
                        <a:rPr lang="en-US" altLang="zh-CN" sz="1100">
                          <a:latin typeface="微软雅黑" panose="020B0503020204020204" charset="-122"/>
                          <a:ea typeface="微软雅黑" panose="020B0503020204020204" charset="-122"/>
                        </a:rPr>
                        <a:t>N(C2=O)CC</a:t>
                      </a:r>
                      <a:r>
                        <a:rPr lang="en-US" altLang="zh-CN" sz="1100">
                          <a:highlight>
                            <a:srgbClr val="FFFF00"/>
                          </a:highlight>
                          <a:latin typeface="微软雅黑" panose="020B0503020204020204" charset="-122"/>
                          <a:ea typeface="微软雅黑" panose="020B0503020204020204" charset="-122"/>
                        </a:rPr>
                        <a:t>(=O)O</a:t>
                      </a:r>
                      <a:endParaRPr lang="en-US" altLang="zh-CN" sz="1100">
                        <a:highlight>
                          <a:srgbClr val="FFFF00"/>
                        </a:highlight>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262/1.9/6/2</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r>
              <a:tr h="0">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ZINC000003954885</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ZINC</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highlight>
                            <a:srgbClr val="FFFF00"/>
                          </a:highlight>
                          <a:latin typeface="微软雅黑" panose="020B0503020204020204" charset="-122"/>
                          <a:ea typeface="微软雅黑" panose="020B0503020204020204" charset="-122"/>
                        </a:rPr>
                        <a:t>C1=CC=C(C=C1)</a:t>
                      </a:r>
                      <a:r>
                        <a:rPr lang="en-US" altLang="zh-CN" sz="1100">
                          <a:latin typeface="微软雅黑" panose="020B0503020204020204" charset="-122"/>
                          <a:ea typeface="微软雅黑" panose="020B0503020204020204" charset="-122"/>
                        </a:rPr>
                        <a:t>C</a:t>
                      </a:r>
                      <a:r>
                        <a:rPr lang="en-US" altLang="zh-CN" sz="1100">
                          <a:highlight>
                            <a:srgbClr val="FFFF00"/>
                          </a:highlight>
                          <a:latin typeface="微软雅黑" panose="020B0503020204020204" charset="-122"/>
                          <a:ea typeface="微软雅黑" panose="020B0503020204020204" charset="-122"/>
                        </a:rPr>
                        <a:t>(=O)</a:t>
                      </a:r>
                      <a:r>
                        <a:rPr lang="en-US" altLang="zh-CN" sz="1100">
                          <a:latin typeface="微软雅黑" panose="020B0503020204020204" charset="-122"/>
                          <a:ea typeface="微软雅黑" panose="020B0503020204020204" charset="-122"/>
                        </a:rPr>
                        <a:t>N(C2=CC=CC=C2)CC</a:t>
                      </a:r>
                      <a:r>
                        <a:rPr lang="en-US" altLang="zh-CN" sz="1100">
                          <a:highlight>
                            <a:srgbClr val="FFFF00"/>
                          </a:highlight>
                          <a:latin typeface="微软雅黑" panose="020B0503020204020204" charset="-122"/>
                          <a:ea typeface="微软雅黑" panose="020B0503020204020204" charset="-122"/>
                        </a:rPr>
                        <a:t>(=O)</a:t>
                      </a:r>
                      <a:r>
                        <a:rPr lang="en-US" altLang="zh-CN" sz="1100">
                          <a:latin typeface="微软雅黑" panose="020B0503020204020204" charset="-122"/>
                          <a:ea typeface="微软雅黑" panose="020B0503020204020204" charset="-122"/>
                        </a:rPr>
                        <a:t>NH2</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339/3.2/8/3</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r>
              <a:tr h="0">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PubChem CID 5329108</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PubChem</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highlight>
                            <a:srgbClr val="FFFF00"/>
                          </a:highlight>
                          <a:latin typeface="微软雅黑" panose="020B0503020204020204" charset="-122"/>
                          <a:ea typeface="微软雅黑" panose="020B0503020204020204" charset="-122"/>
                        </a:rPr>
                        <a:t>C1=CN=C(C=C1)</a:t>
                      </a:r>
                      <a:r>
                        <a:rPr lang="en-US" altLang="zh-CN" sz="1100">
                          <a:latin typeface="微软雅黑" panose="020B0503020204020204" charset="-122"/>
                          <a:ea typeface="微软雅黑" panose="020B0503020204020204" charset="-122"/>
                        </a:rPr>
                        <a:t>CC</a:t>
                      </a:r>
                      <a:r>
                        <a:rPr lang="en-US" altLang="zh-CN" sz="1100">
                          <a:highlight>
                            <a:srgbClr val="FFFF00"/>
                          </a:highlight>
                          <a:latin typeface="微软雅黑" panose="020B0503020204020204" charset="-122"/>
                          <a:ea typeface="微软雅黑" panose="020B0503020204020204" charset="-122"/>
                        </a:rPr>
                        <a:t>(=O)O</a:t>
                      </a:r>
                      <a:endParaRPr lang="en-US" altLang="zh-CN" sz="1100">
                        <a:highlight>
                          <a:srgbClr val="FFFF00"/>
                        </a:highlight>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177/1.6/5/2</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r>
            </a:tbl>
          </a:graphicData>
        </a:graphic>
      </p:graphicFrame>
      <p:sp>
        <p:nvSpPr>
          <p:cNvPr id="12342" name="文本框 3"/>
          <p:cNvSpPr txBox="1"/>
          <p:nvPr/>
        </p:nvSpPr>
        <p:spPr>
          <a:xfrm>
            <a:off x="668338" y="1811020"/>
            <a:ext cx="7342187" cy="338138"/>
          </a:xfrm>
          <a:prstGeom prst="rect">
            <a:avLst/>
          </a:prstGeom>
          <a:noFill/>
          <a:ln w="9525">
            <a:noFill/>
          </a:ln>
        </p:spPr>
        <p:txBody>
          <a:bodyPr wrap="square" anchor="t" anchorCtr="0">
            <a:spAutoFit/>
          </a:bodyPr>
          <a:p>
            <a:pPr algn="just" defTabSz="266700"/>
            <a:r>
              <a:rPr lang="zh-CN" altLang="en-US" sz="1600">
                <a:latin typeface="微软雅黑" panose="020B0503020204020204" charset="-122"/>
                <a:ea typeface="微软雅黑" panose="020B0503020204020204" charset="-122"/>
              </a:rPr>
              <a:t>随后我们又从不同的数据库中找到了符合口袋特征的小分子配体进行实验</a:t>
            </a:r>
            <a:endParaRPr lang="zh-CN" altLang="en-US" sz="1600">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4338"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39"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14340"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14341"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14342"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4343"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4"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5"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6"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7"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8"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49"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50"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51"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4352" name="文本框 2"/>
          <p:cNvSpPr txBox="1"/>
          <p:nvPr/>
        </p:nvSpPr>
        <p:spPr>
          <a:xfrm>
            <a:off x="395288" y="1574800"/>
            <a:ext cx="8458200" cy="830263"/>
          </a:xfrm>
          <a:prstGeom prst="rect">
            <a:avLst/>
          </a:prstGeom>
          <a:noFill/>
          <a:ln w="9525">
            <a:noFill/>
          </a:ln>
        </p:spPr>
        <p:txBody>
          <a:bodyPr wrap="square" anchor="t" anchorCtr="0">
            <a:spAutoFit/>
          </a:bodyPr>
          <a:p>
            <a:pPr indent="266700" algn="just" defTabSz="266700"/>
            <a:r>
              <a:rPr lang="zh-CN" altLang="en-US" sz="1600">
                <a:latin typeface="微软雅黑" panose="020B0503020204020204" charset="-122"/>
                <a:ea typeface="微软雅黑" panose="020B0503020204020204" charset="-122"/>
              </a:rPr>
              <a:t>通过分子对接计算候选分子与</a:t>
            </a:r>
            <a:r>
              <a:rPr lang="en-US" altLang="zh-CN" sz="1600">
                <a:latin typeface="微软雅黑" panose="020B0503020204020204" charset="-122"/>
                <a:ea typeface="微软雅黑" panose="020B0503020204020204" charset="-122"/>
              </a:rPr>
              <a:t>KRAS G12D</a:t>
            </a:r>
            <a:r>
              <a:rPr lang="zh-CN" altLang="en-US" sz="1600">
                <a:latin typeface="微软雅黑" panose="020B0503020204020204" charset="-122"/>
                <a:ea typeface="微软雅黑" panose="020B0503020204020204" charset="-122"/>
              </a:rPr>
              <a:t>变构口袋的结合能，筛选出高亲和力分子。考虑到</a:t>
            </a:r>
            <a:r>
              <a:rPr lang="en-US" altLang="zh-CN" sz="1600">
                <a:latin typeface="微软雅黑" panose="020B0503020204020204" charset="-122"/>
                <a:ea typeface="微软雅黑" panose="020B0503020204020204" charset="-122"/>
              </a:rPr>
              <a:t>KRAS</a:t>
            </a:r>
            <a:r>
              <a:rPr lang="zh-CN" altLang="en-US" sz="1600">
                <a:latin typeface="微软雅黑" panose="020B0503020204020204" charset="-122"/>
                <a:ea typeface="微软雅黑" panose="020B0503020204020204" charset="-122"/>
              </a:rPr>
              <a:t>构象敏感，采用 “传统对接 </a:t>
            </a:r>
            <a:r>
              <a:rPr lang="en-US" altLang="zh-CN" sz="1600">
                <a:latin typeface="微软雅黑" panose="020B0503020204020204" charset="-122"/>
                <a:ea typeface="微软雅黑" panose="020B0503020204020204" charset="-122"/>
              </a:rPr>
              <a:t>+ </a:t>
            </a:r>
            <a:r>
              <a:rPr lang="zh-CN" altLang="en-US" sz="1600">
                <a:latin typeface="微软雅黑" panose="020B0503020204020204" charset="-122"/>
                <a:ea typeface="微软雅黑" panose="020B0503020204020204" charset="-122"/>
              </a:rPr>
              <a:t>构象优化”结合的方式（</a:t>
            </a:r>
            <a:r>
              <a:rPr lang="en-US" altLang="zh-CN" sz="1600">
                <a:latin typeface="微软雅黑" panose="020B0503020204020204" charset="-122"/>
                <a:ea typeface="微软雅黑" panose="020B0503020204020204" charset="-122"/>
              </a:rPr>
              <a:t>AutoDock Vina </a:t>
            </a:r>
            <a:r>
              <a:rPr lang="zh-CN" altLang="en-US" sz="1600">
                <a:latin typeface="微软雅黑" panose="020B0503020204020204" charset="-122"/>
                <a:ea typeface="微软雅黑" panose="020B0503020204020204" charset="-122"/>
              </a:rPr>
              <a:t>为主）。</a:t>
            </a:r>
            <a:endParaRPr lang="zh-CN" altLang="en-US" sz="1600">
              <a:latin typeface="微软雅黑" panose="020B0503020204020204" charset="-122"/>
              <a:ea typeface="微软雅黑" panose="020B0503020204020204" charset="-122"/>
            </a:endParaRPr>
          </a:p>
          <a:p>
            <a:pPr indent="266700" algn="just" defTabSz="266700"/>
            <a:r>
              <a:rPr lang="zh-CN" altLang="en-US" sz="1600">
                <a:latin typeface="微软雅黑" panose="020B0503020204020204" charset="-122"/>
                <a:ea typeface="微软雅黑" panose="020B0503020204020204" charset="-122"/>
              </a:rPr>
              <a:t>使用</a:t>
            </a:r>
            <a:r>
              <a:rPr lang="en-US" altLang="zh-CN" sz="1600">
                <a:latin typeface="微软雅黑" panose="020B0503020204020204" charset="-122"/>
                <a:ea typeface="微软雅黑" panose="020B0503020204020204" charset="-122"/>
              </a:rPr>
              <a:t>AutoDock</a:t>
            </a:r>
            <a:r>
              <a:rPr lang="zh-CN" altLang="en-US" sz="1600">
                <a:latin typeface="微软雅黑" panose="020B0503020204020204" charset="-122"/>
                <a:ea typeface="微软雅黑" panose="020B0503020204020204" charset="-122"/>
              </a:rPr>
              <a:t>工具对初筛的</a:t>
            </a:r>
            <a:r>
              <a:rPr lang="en-US" altLang="zh-CN" sz="1600">
                <a:latin typeface="微软雅黑" panose="020B0503020204020204" charset="-122"/>
                <a:ea typeface="微软雅黑" panose="020B0503020204020204" charset="-122"/>
              </a:rPr>
              <a:t>5</a:t>
            </a:r>
            <a:r>
              <a:rPr lang="zh-CN" altLang="en-US" sz="1600">
                <a:latin typeface="微软雅黑" panose="020B0503020204020204" charset="-122"/>
                <a:ea typeface="微软雅黑" panose="020B0503020204020204" charset="-122"/>
              </a:rPr>
              <a:t>个小分子配体进行与受体</a:t>
            </a:r>
            <a:r>
              <a:rPr lang="en-US" altLang="zh-CN" sz="1600">
                <a:latin typeface="微软雅黑" panose="020B0503020204020204" charset="-122"/>
                <a:ea typeface="微软雅黑" panose="020B0503020204020204" charset="-122"/>
              </a:rPr>
              <a:t>KRAS G12D</a:t>
            </a:r>
            <a:r>
              <a:rPr lang="zh-CN" altLang="en-US" sz="1600">
                <a:latin typeface="微软雅黑" panose="020B0503020204020204" charset="-122"/>
                <a:ea typeface="微软雅黑" panose="020B0503020204020204" charset="-122"/>
              </a:rPr>
              <a:t>突变体的对接处理</a:t>
            </a:r>
            <a:endParaRPr lang="zh-CN" altLang="en-US" sz="1600">
              <a:latin typeface="微软雅黑" panose="020B0503020204020204" charset="-122"/>
              <a:ea typeface="微软雅黑" panose="020B0503020204020204" charset="-122"/>
            </a:endParaRPr>
          </a:p>
        </p:txBody>
      </p:sp>
      <p:sp>
        <p:nvSpPr>
          <p:cNvPr id="14353" name="文本框 5"/>
          <p:cNvSpPr txBox="1"/>
          <p:nvPr/>
        </p:nvSpPr>
        <p:spPr>
          <a:xfrm>
            <a:off x="917575" y="2781300"/>
            <a:ext cx="5889625" cy="830263"/>
          </a:xfrm>
          <a:prstGeom prst="rect">
            <a:avLst/>
          </a:prstGeom>
          <a:noFill/>
          <a:ln w="9525">
            <a:noFill/>
          </a:ln>
        </p:spPr>
        <p:txBody>
          <a:bodyPr wrap="square" anchor="t" anchorCtr="0">
            <a:spAutoFit/>
          </a:bodyPr>
          <a:p>
            <a:pPr algn="just" defTabSz="266700"/>
            <a:r>
              <a:rPr lang="en-US" altLang="zh-CN" sz="1600">
                <a:latin typeface="宋体" panose="02010600030101010101" pitchFamily="2" charset="-122"/>
                <a:ea typeface="宋体" panose="02010600030101010101" pitchFamily="2" charset="-122"/>
              </a:rPr>
              <a:t> </a:t>
            </a:r>
            <a:r>
              <a:rPr lang="zh-CN" altLang="en-US" sz="1600">
                <a:latin typeface="微软雅黑" panose="020B0503020204020204" charset="-122"/>
                <a:ea typeface="微软雅黑" panose="020B0503020204020204" charset="-122"/>
              </a:rPr>
              <a:t>筛选最终候选分子</a:t>
            </a:r>
            <a:endParaRPr lang="zh-CN" altLang="en-US" sz="1600">
              <a:latin typeface="微软雅黑" panose="020B0503020204020204" charset="-122"/>
              <a:ea typeface="微软雅黑" panose="020B0503020204020204" charset="-122"/>
            </a:endParaRPr>
          </a:p>
          <a:p>
            <a:pPr algn="just" defTabSz="266700"/>
            <a:r>
              <a:rPr lang="zh-CN" altLang="en-US" sz="1600">
                <a:latin typeface="微软雅黑" panose="020B0503020204020204" charset="-122"/>
                <a:ea typeface="微软雅黑" panose="020B0503020204020204" charset="-122"/>
              </a:rPr>
              <a:t>综合“结合能得分” 和 “构象合理性”，最终筛选出结合能前两名的最优分子。</a:t>
            </a:r>
            <a:endParaRPr lang="zh-CN" altLang="en-US" sz="1600">
              <a:latin typeface="微软雅黑" panose="020B0503020204020204" charset="-122"/>
              <a:ea typeface="微软雅黑" panose="020B0503020204020204" charset="-122"/>
            </a:endParaRPr>
          </a:p>
        </p:txBody>
      </p:sp>
      <p:graphicFrame>
        <p:nvGraphicFramePr>
          <p:cNvPr id="7" name="表格 6"/>
          <p:cNvGraphicFramePr/>
          <p:nvPr>
            <p:custDataLst>
              <p:tags r:id="rId1"/>
            </p:custDataLst>
          </p:nvPr>
        </p:nvGraphicFramePr>
        <p:xfrm>
          <a:off x="1475105" y="3904615"/>
          <a:ext cx="5945505" cy="1406525"/>
        </p:xfrm>
        <a:graphic>
          <a:graphicData uri="http://schemas.openxmlformats.org/drawingml/2006/table">
            <a:tbl>
              <a:tblPr/>
              <a:tblGrid>
                <a:gridCol w="962025"/>
                <a:gridCol w="2245995"/>
                <a:gridCol w="2737485"/>
              </a:tblGrid>
              <a:tr h="284480">
                <a:tc>
                  <a:txBody>
                    <a:bodyPr/>
                    <a:p>
                      <a:pPr marL="0" indent="0" algn="ctr">
                        <a:spcBef>
                          <a:spcPct val="0"/>
                        </a:spcBef>
                        <a:spcAft>
                          <a:spcPct val="0"/>
                        </a:spcAft>
                      </a:pPr>
                      <a:r>
                        <a:rPr lang="zh-CN" sz="1200" b="1" i="0">
                          <a:solidFill>
                            <a:srgbClr val="000000"/>
                          </a:solidFill>
                          <a:latin typeface="Segoe UI" panose="020B0502040204020203"/>
                          <a:ea typeface="Segoe UI" panose="020B0502040204020203"/>
                        </a:rPr>
                        <a:t>配体</a:t>
                      </a:r>
                      <a:r>
                        <a:rPr lang="en-US" altLang="zh-CN" sz="1200" b="1" i="0">
                          <a:solidFill>
                            <a:srgbClr val="000000"/>
                          </a:solidFill>
                          <a:latin typeface="Segoe UI" panose="020B0502040204020203"/>
                          <a:ea typeface="Segoe UI" panose="020B0502040204020203"/>
                        </a:rPr>
                        <a:t>ID</a:t>
                      </a:r>
                      <a:endParaRPr lang="en-US" altLang="zh-CN" sz="1200" b="1"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c>
                  <a:txBody>
                    <a:bodyPr/>
                    <a:p>
                      <a:pPr marL="0" indent="0" algn="ctr">
                        <a:spcBef>
                          <a:spcPct val="0"/>
                        </a:spcBef>
                        <a:spcAft>
                          <a:spcPct val="0"/>
                        </a:spcAft>
                      </a:pPr>
                      <a:r>
                        <a:rPr lang="zh-CN" sz="1200" b="1" i="0">
                          <a:solidFill>
                            <a:srgbClr val="000000"/>
                          </a:solidFill>
                          <a:latin typeface="Segoe UI" panose="020B0502040204020203"/>
                          <a:ea typeface="Segoe UI" panose="020B0502040204020203"/>
                        </a:rPr>
                        <a:t>结合能（</a:t>
                      </a:r>
                      <a:r>
                        <a:rPr lang="en-US" altLang="zh-CN" sz="1200" b="1" i="0">
                          <a:solidFill>
                            <a:srgbClr val="000000"/>
                          </a:solidFill>
                          <a:latin typeface="Segoe UI" panose="020B0502040204020203"/>
                          <a:ea typeface="Segoe UI" panose="020B0502040204020203"/>
                        </a:rPr>
                        <a:t>kcal/mol</a:t>
                      </a:r>
                      <a:r>
                        <a:rPr lang="zh-CN" altLang="en-US" sz="1200" b="1" i="0">
                          <a:solidFill>
                            <a:srgbClr val="000000"/>
                          </a:solidFill>
                          <a:latin typeface="Segoe UI" panose="020B0502040204020203"/>
                          <a:ea typeface="Segoe UI" panose="020B0502040204020203"/>
                        </a:rPr>
                        <a:t>）</a:t>
                      </a:r>
                      <a:endParaRPr lang="zh-CN" altLang="en-US" sz="1200" b="1"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c>
                  <a:txBody>
                    <a:bodyPr/>
                    <a:p>
                      <a:pPr marL="0" indent="0" algn="ctr">
                        <a:spcBef>
                          <a:spcPct val="0"/>
                        </a:spcBef>
                        <a:spcAft>
                          <a:spcPct val="0"/>
                        </a:spcAft>
                      </a:pPr>
                      <a:r>
                        <a:rPr lang="zh-CN" sz="1200" b="1" i="0">
                          <a:solidFill>
                            <a:srgbClr val="000000"/>
                          </a:solidFill>
                          <a:latin typeface="Segoe UI" panose="020B0502040204020203"/>
                          <a:ea typeface="Segoe UI" panose="020B0502040204020203"/>
                        </a:rPr>
                        <a:t>类药性质（</a:t>
                      </a:r>
                      <a:r>
                        <a:rPr lang="en-US" altLang="zh-CN" sz="1200" b="1" i="0">
                          <a:solidFill>
                            <a:srgbClr val="000000"/>
                          </a:solidFill>
                          <a:latin typeface="Segoe UI" panose="020B0502040204020203"/>
                          <a:ea typeface="Segoe UI" panose="020B0502040204020203"/>
                        </a:rPr>
                        <a:t>SwissADME</a:t>
                      </a:r>
                      <a:r>
                        <a:rPr lang="zh-CN" altLang="en-US" sz="1200" b="1" i="0">
                          <a:solidFill>
                            <a:srgbClr val="000000"/>
                          </a:solidFill>
                          <a:latin typeface="Segoe UI" panose="020B0502040204020203"/>
                          <a:ea typeface="Segoe UI" panose="020B0502040204020203"/>
                        </a:rPr>
                        <a:t>）</a:t>
                      </a:r>
                      <a:endParaRPr lang="zh-CN" altLang="en-US" sz="1200" b="1"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r>
              <a:tr h="526415">
                <a:tc>
                  <a:txBody>
                    <a:bodyPr/>
                    <a:p>
                      <a:pPr marL="0" indent="0" algn="just">
                        <a:spcBef>
                          <a:spcPct val="0"/>
                        </a:spcBef>
                        <a:spcAft>
                          <a:spcPct val="0"/>
                        </a:spcAft>
                      </a:pPr>
                      <a:r>
                        <a:rPr lang="en-US" altLang="zh-CN" sz="1100">
                          <a:latin typeface="微软雅黑" panose="020B0503020204020204" charset="-122"/>
                          <a:ea typeface="微软雅黑" panose="020B0503020204020204" charset="-122"/>
                        </a:rPr>
                        <a:t>PubChemCID 10176216</a:t>
                      </a:r>
                      <a:endParaRPr lang="en-US" altLang="zh-CN" sz="1100">
                        <a:latin typeface="微软雅黑" panose="020B0503020204020204" charset="-122"/>
                        <a:ea typeface="微软雅黑" panose="020B0503020204020204" charset="-122"/>
                      </a:endParaRPr>
                    </a:p>
                  </a:txBody>
                  <a:tcPr marL="60960" marR="60960" marT="35560" marB="35560" anchor="ctr" anchorCtr="0">
                    <a:lnL>
                      <a:noFill/>
                    </a:lnL>
                    <a:lnR>
                      <a:noFill/>
                    </a:lnR>
                    <a:lnT>
                      <a:noFill/>
                    </a:lnT>
                    <a:lnB>
                      <a:noFill/>
                    </a:lnB>
                    <a:solidFill>
                      <a:srgbClr val="FFFFFF"/>
                    </a:solidFill>
                  </a:tcPr>
                </a:tc>
                <a:tc>
                  <a:txBody>
                    <a:bodyPr/>
                    <a:p>
                      <a:pPr marL="0" indent="0" algn="ctr">
                        <a:spcBef>
                          <a:spcPct val="0"/>
                        </a:spcBef>
                        <a:spcAft>
                          <a:spcPct val="0"/>
                        </a:spcAft>
                      </a:pPr>
                      <a:r>
                        <a:rPr lang="en-US" altLang="zh-CN" sz="1200" i="0">
                          <a:solidFill>
                            <a:srgbClr val="000000"/>
                          </a:solidFill>
                          <a:latin typeface="Segoe UI" panose="020B0502040204020203"/>
                          <a:ea typeface="Segoe UI" panose="020B0502040204020203"/>
                        </a:rPr>
                        <a:t>-</a:t>
                      </a:r>
                      <a:r>
                        <a:rPr lang="en-US" altLang="zh-CN" sz="1200" i="0">
                          <a:solidFill>
                            <a:srgbClr val="000000"/>
                          </a:solidFill>
                          <a:latin typeface="Segoe UI" panose="020B0502040204020203"/>
                          <a:ea typeface="Segoe UI" panose="020B0502040204020203"/>
                        </a:rPr>
                        <a:t>9.3</a:t>
                      </a:r>
                      <a:endParaRPr lang="en-US" altLang="zh-CN" sz="1200"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c>
                  <a:txBody>
                    <a:bodyPr/>
                    <a:p>
                      <a:pPr marL="0" indent="0" algn="ctr">
                        <a:spcBef>
                          <a:spcPct val="0"/>
                        </a:spcBef>
                        <a:spcAft>
                          <a:spcPct val="0"/>
                        </a:spcAft>
                      </a:pPr>
                      <a:r>
                        <a:rPr lang="en-US" altLang="zh-CN" sz="1200" i="0">
                          <a:solidFill>
                            <a:srgbClr val="000000"/>
                          </a:solidFill>
                          <a:latin typeface="Segoe UI" panose="020B0502040204020203"/>
                          <a:ea typeface="Segoe UI" panose="020B0502040204020203"/>
                        </a:rPr>
                        <a:t>MW=</a:t>
                      </a:r>
                      <a:r>
                        <a:rPr lang="en-US" altLang="zh-CN" sz="1200" i="0">
                          <a:solidFill>
                            <a:srgbClr val="000000"/>
                          </a:solidFill>
                          <a:latin typeface="Segoe UI" panose="020B0502040204020203"/>
                          <a:ea typeface="Segoe UI" panose="020B0502040204020203"/>
                        </a:rPr>
                        <a:t>307</a:t>
                      </a:r>
                      <a:r>
                        <a:rPr lang="zh-CN" sz="1200" i="0">
                          <a:solidFill>
                            <a:srgbClr val="000000"/>
                          </a:solidFill>
                          <a:latin typeface="Segoe UI" panose="020B0502040204020203"/>
                          <a:ea typeface="Segoe UI" panose="020B0502040204020203"/>
                        </a:rPr>
                        <a:t>，</a:t>
                      </a:r>
                      <a:r>
                        <a:rPr lang="en-US" altLang="zh-CN" sz="1200" i="0">
                          <a:solidFill>
                            <a:srgbClr val="000000"/>
                          </a:solidFill>
                          <a:latin typeface="Segoe UI" panose="020B0502040204020203"/>
                          <a:ea typeface="Segoe UI" panose="020B0502040204020203"/>
                        </a:rPr>
                        <a:t>LogP=</a:t>
                      </a:r>
                      <a:r>
                        <a:rPr lang="en-US" altLang="zh-CN" sz="1200" i="0">
                          <a:solidFill>
                            <a:srgbClr val="000000"/>
                          </a:solidFill>
                          <a:latin typeface="Segoe UI" panose="020B0502040204020203"/>
                          <a:ea typeface="Segoe UI" panose="020B0502040204020203"/>
                        </a:rPr>
                        <a:t>2.5</a:t>
                      </a:r>
                      <a:r>
                        <a:rPr lang="zh-CN" sz="1200" i="0">
                          <a:solidFill>
                            <a:srgbClr val="000000"/>
                          </a:solidFill>
                          <a:latin typeface="Segoe UI" panose="020B0502040204020203"/>
                          <a:ea typeface="Segoe UI" panose="020B0502040204020203"/>
                        </a:rPr>
                        <a:t>，无毒性风险</a:t>
                      </a:r>
                      <a:endParaRPr lang="zh-CN" sz="1200"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r>
              <a:tr h="595630">
                <a:tc>
                  <a:txBody>
                    <a:bodyPr/>
                    <a:p>
                      <a:pPr marL="0" indent="0" algn="just">
                        <a:spcBef>
                          <a:spcPct val="0"/>
                        </a:spcBef>
                        <a:spcAft>
                          <a:spcPct val="0"/>
                        </a:spcAft>
                      </a:pPr>
                      <a:r>
                        <a:rPr lang="en-US" altLang="zh-CN" sz="1200">
                          <a:latin typeface="微软雅黑" panose="020B0503020204020204" charset="-122"/>
                          <a:ea typeface="微软雅黑" panose="020B0503020204020204" charset="-122"/>
                          <a:sym typeface="+mn-ea"/>
                        </a:rPr>
                        <a:t>ZINC000003954885</a:t>
                      </a:r>
                      <a:endParaRPr lang="en-US" altLang="zh-CN" sz="1200"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c>
                  <a:txBody>
                    <a:bodyPr/>
                    <a:p>
                      <a:pPr marL="0" indent="0" algn="ctr">
                        <a:spcBef>
                          <a:spcPct val="0"/>
                        </a:spcBef>
                        <a:spcAft>
                          <a:spcPct val="0"/>
                        </a:spcAft>
                      </a:pPr>
                      <a:r>
                        <a:rPr lang="en-US" altLang="zh-CN" sz="1200" i="0">
                          <a:solidFill>
                            <a:srgbClr val="000000"/>
                          </a:solidFill>
                          <a:latin typeface="Segoe UI" panose="020B0502040204020203"/>
                          <a:ea typeface="Segoe UI" panose="020B0502040204020203"/>
                        </a:rPr>
                        <a:t>-7.47</a:t>
                      </a:r>
                      <a:endParaRPr lang="en-US" altLang="zh-CN" sz="1200"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c>
                  <a:txBody>
                    <a:bodyPr/>
                    <a:p>
                      <a:pPr marL="0" indent="0" algn="ctr">
                        <a:spcBef>
                          <a:spcPct val="0"/>
                        </a:spcBef>
                        <a:spcAft>
                          <a:spcPct val="0"/>
                        </a:spcAft>
                      </a:pPr>
                      <a:r>
                        <a:rPr lang="en-US" altLang="zh-CN" sz="1200" i="0">
                          <a:solidFill>
                            <a:srgbClr val="000000"/>
                          </a:solidFill>
                          <a:latin typeface="Segoe UI" panose="020B0502040204020203"/>
                          <a:ea typeface="Segoe UI" panose="020B0502040204020203"/>
                        </a:rPr>
                        <a:t>MW=</a:t>
                      </a:r>
                      <a:r>
                        <a:rPr lang="en-US" altLang="zh-CN" sz="1200" i="0">
                          <a:solidFill>
                            <a:srgbClr val="000000"/>
                          </a:solidFill>
                          <a:latin typeface="Segoe UI" panose="020B0502040204020203"/>
                          <a:ea typeface="Segoe UI" panose="020B0502040204020203"/>
                        </a:rPr>
                        <a:t>339</a:t>
                      </a:r>
                      <a:r>
                        <a:rPr lang="zh-CN" sz="1200" i="0">
                          <a:solidFill>
                            <a:srgbClr val="000000"/>
                          </a:solidFill>
                          <a:latin typeface="Segoe UI" panose="020B0502040204020203"/>
                          <a:ea typeface="Segoe UI" panose="020B0502040204020203"/>
                        </a:rPr>
                        <a:t>，</a:t>
                      </a:r>
                      <a:r>
                        <a:rPr lang="en-US" altLang="zh-CN" sz="1200" i="0">
                          <a:solidFill>
                            <a:srgbClr val="000000"/>
                          </a:solidFill>
                          <a:latin typeface="Segoe UI" panose="020B0502040204020203"/>
                          <a:ea typeface="Segoe UI" panose="020B0502040204020203"/>
                        </a:rPr>
                        <a:t>LogP=</a:t>
                      </a:r>
                      <a:r>
                        <a:rPr lang="en-US" altLang="zh-CN" sz="1200" i="0">
                          <a:solidFill>
                            <a:srgbClr val="000000"/>
                          </a:solidFill>
                          <a:latin typeface="Segoe UI" panose="020B0502040204020203"/>
                          <a:ea typeface="Segoe UI" panose="020B0502040204020203"/>
                        </a:rPr>
                        <a:t>3.2</a:t>
                      </a:r>
                      <a:r>
                        <a:rPr lang="zh-CN" sz="1200" i="0">
                          <a:solidFill>
                            <a:srgbClr val="000000"/>
                          </a:solidFill>
                          <a:latin typeface="Segoe UI" panose="020B0502040204020203"/>
                          <a:ea typeface="Segoe UI" panose="020B0502040204020203"/>
                        </a:rPr>
                        <a:t>，无毒性风险</a:t>
                      </a:r>
                      <a:endParaRPr lang="zh-CN" sz="1200" i="0">
                        <a:solidFill>
                          <a:srgbClr val="000000"/>
                        </a:solidFill>
                        <a:latin typeface="Segoe UI" panose="020B0502040204020203"/>
                        <a:ea typeface="Segoe UI" panose="020B0502040204020203"/>
                      </a:endParaRPr>
                    </a:p>
                  </a:txBody>
                  <a:tcPr marL="81280" marR="81280" marT="50800" marB="50800" anchor="ctr" anchorCtr="0">
                    <a:lnL>
                      <a:noFill/>
                    </a:lnL>
                    <a:lnR>
                      <a:noFill/>
                    </a:lnR>
                    <a:lnT>
                      <a:noFill/>
                    </a:lnT>
                    <a:lnB>
                      <a:no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6386"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87"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16388"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16389"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16390"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6391"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2"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3"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4"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5"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6"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7"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8"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399"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6400" name="文本框 1"/>
          <p:cNvSpPr txBox="1"/>
          <p:nvPr/>
        </p:nvSpPr>
        <p:spPr>
          <a:xfrm>
            <a:off x="251460" y="1628775"/>
            <a:ext cx="10576560" cy="337185"/>
          </a:xfrm>
          <a:prstGeom prst="rect">
            <a:avLst/>
          </a:prstGeom>
          <a:noFill/>
          <a:ln w="9525">
            <a:noFill/>
          </a:ln>
        </p:spPr>
        <p:txBody>
          <a:bodyPr wrap="square" anchor="t" anchorCtr="0">
            <a:spAutoFit/>
          </a:bodyPr>
          <a:p>
            <a:pPr indent="266700" algn="just" defTabSz="266700"/>
            <a:r>
              <a:rPr lang="zh-CN" altLang="en-US" sz="1600">
                <a:latin typeface="微软雅黑" panose="020B0503020204020204" charset="-122"/>
                <a:ea typeface="微软雅黑" panose="020B0503020204020204" charset="-122"/>
              </a:rPr>
              <a:t>最终我们筛选出了</a:t>
            </a:r>
            <a:r>
              <a:rPr lang="en-US" altLang="zh-CN" sz="1600">
                <a:latin typeface="微软雅黑" panose="020B0503020204020204" charset="-122"/>
                <a:ea typeface="微软雅黑" panose="020B0503020204020204" charset="-122"/>
                <a:sym typeface="+mn-ea"/>
              </a:rPr>
              <a:t>PubChemCID 10176216</a:t>
            </a:r>
            <a:r>
              <a:rPr lang="zh-CN" altLang="en-US" sz="1600">
                <a:solidFill>
                  <a:srgbClr val="000000"/>
                </a:solidFill>
                <a:latin typeface="微软雅黑" panose="020B0503020204020204" charset="-122"/>
                <a:ea typeface="微软雅黑" panose="020B0503020204020204" charset="-122"/>
              </a:rPr>
              <a:t>，并将其与受体的分子对接进行可视化</a:t>
            </a:r>
            <a:endParaRPr lang="zh-CN" altLang="en-US" sz="1600">
              <a:solidFill>
                <a:srgbClr val="000000"/>
              </a:solidFill>
              <a:latin typeface="微软雅黑" panose="020B0503020204020204" charset="-122"/>
              <a:ea typeface="微软雅黑" panose="020B0503020204020204" charset="-122"/>
            </a:endParaRPr>
          </a:p>
        </p:txBody>
      </p:sp>
      <p:sp>
        <p:nvSpPr>
          <p:cNvPr id="16402" name="文本框 12"/>
          <p:cNvSpPr txBox="1"/>
          <p:nvPr/>
        </p:nvSpPr>
        <p:spPr>
          <a:xfrm>
            <a:off x="4932363" y="1916748"/>
            <a:ext cx="4113212" cy="3538220"/>
          </a:xfrm>
          <a:prstGeom prst="rect">
            <a:avLst/>
          </a:prstGeom>
          <a:noFill/>
          <a:ln w="9525">
            <a:noFill/>
          </a:ln>
        </p:spPr>
        <p:txBody>
          <a:bodyPr wrap="square" anchor="t" anchorCtr="0">
            <a:spAutoFit/>
          </a:bodyPr>
          <a:p>
            <a:pPr indent="266700" algn="just" defTabSz="266700">
              <a:buNone/>
            </a:pPr>
            <a:r>
              <a:rPr lang="zh-CN" altLang="en-US" sz="1600">
                <a:latin typeface="微软雅黑" panose="020B0503020204020204" charset="-122"/>
                <a:ea typeface="微软雅黑" panose="020B0503020204020204" charset="-122"/>
              </a:rPr>
              <a:t>可观察到：</a:t>
            </a:r>
            <a:endParaRPr lang="zh-CN" altLang="en-US" sz="1600">
              <a:latin typeface="微软雅黑" panose="020B0503020204020204" charset="-122"/>
              <a:ea typeface="微软雅黑" panose="020B0503020204020204" charset="-122"/>
            </a:endParaRPr>
          </a:p>
          <a:p>
            <a:pPr indent="266700" algn="just" defTabSz="266700">
              <a:buFont typeface="Times New Roman" panose="02020603050405020304"/>
              <a:buAutoNum type="arabicPeriod"/>
            </a:pPr>
            <a:r>
              <a:rPr lang="en-US" altLang="zh-CN" sz="1600">
                <a:latin typeface="微软雅黑" panose="020B0503020204020204" charset="-122"/>
                <a:ea typeface="微软雅黑" panose="020B0503020204020204" charset="-122"/>
                <a:sym typeface="+mn-ea"/>
              </a:rPr>
              <a:t>PubChemCID 10176216</a:t>
            </a:r>
            <a:r>
              <a:rPr lang="zh-CN" altLang="en-US" sz="1600">
                <a:latin typeface="微软雅黑" panose="020B0503020204020204" charset="-122"/>
                <a:ea typeface="微软雅黑" panose="020B0503020204020204" charset="-122"/>
              </a:rPr>
              <a:t>整体嵌入</a:t>
            </a:r>
            <a:r>
              <a:rPr lang="en-US" altLang="zh-CN" sz="1600">
                <a:latin typeface="微软雅黑" panose="020B0503020204020204" charset="-122"/>
                <a:ea typeface="微软雅黑" panose="020B0503020204020204" charset="-122"/>
              </a:rPr>
              <a:t>KRAS G12D</a:t>
            </a:r>
            <a:r>
              <a:rPr lang="zh-CN" altLang="en-US" sz="1600">
                <a:latin typeface="微软雅黑" panose="020B0503020204020204" charset="-122"/>
                <a:ea typeface="微软雅黑" panose="020B0503020204020204" charset="-122"/>
              </a:rPr>
              <a:t>的变构口袋，：一端的疏水芳香环深入口袋内部的疏水腔，另一端的氢键基团朝向口袋开口处的极性区域，与周围氨基酸形成稳定相互作用，整体构象无空间位阻，完全适配口袋容积，</a:t>
            </a:r>
            <a:endParaRPr lang="zh-CN" altLang="en-US" sz="1600">
              <a:latin typeface="微软雅黑" panose="020B0503020204020204" charset="-122"/>
              <a:ea typeface="微软雅黑" panose="020B0503020204020204" charset="-122"/>
            </a:endParaRPr>
          </a:p>
          <a:p>
            <a:pPr indent="266700" algn="just" defTabSz="266700">
              <a:buFont typeface="Times New Roman" panose="02020603050405020304"/>
              <a:buAutoNum type="arabicPeriod"/>
            </a:pPr>
            <a:r>
              <a:rPr lang="zh-CN" altLang="en-US" sz="1600">
                <a:latin typeface="微软雅黑" panose="020B0503020204020204" charset="-122"/>
                <a:ea typeface="微软雅黑" panose="020B0503020204020204" charset="-122"/>
              </a:rPr>
              <a:t>与</a:t>
            </a:r>
            <a:r>
              <a:rPr lang="en-US" altLang="zh-CN" sz="1600">
                <a:latin typeface="微软雅黑" panose="020B0503020204020204" charset="-122"/>
                <a:ea typeface="微软雅黑" panose="020B0503020204020204" charset="-122"/>
              </a:rPr>
              <a:t>Asp57</a:t>
            </a:r>
            <a:r>
              <a:rPr lang="zh-CN" altLang="en-US" sz="1600">
                <a:latin typeface="微软雅黑" panose="020B0503020204020204" charset="-122"/>
                <a:ea typeface="微软雅黑" panose="020B0503020204020204" charset="-122"/>
              </a:rPr>
              <a:t>侧链的氨基氢形成第一个氢键（</a:t>
            </a:r>
            <a:r>
              <a:rPr lang="en-US" altLang="zh-CN" sz="1600">
                <a:latin typeface="微软雅黑" panose="020B0503020204020204" charset="-122"/>
                <a:ea typeface="微软雅黑" panose="020B0503020204020204" charset="-122"/>
              </a:rPr>
              <a:t>PyMOL</a:t>
            </a:r>
            <a:r>
              <a:rPr lang="zh-CN" altLang="en-US" sz="1600">
                <a:latin typeface="微软雅黑" panose="020B0503020204020204" charset="-122"/>
                <a:ea typeface="微软雅黑" panose="020B0503020204020204" charset="-122"/>
              </a:rPr>
              <a:t>中测量键长</a:t>
            </a:r>
            <a:r>
              <a:rPr lang="en-US" altLang="zh-CN" sz="1600">
                <a:latin typeface="微软雅黑" panose="020B0503020204020204" charset="-122"/>
                <a:ea typeface="微软雅黑" panose="020B0503020204020204" charset="-122"/>
              </a:rPr>
              <a:t>2.1Å</a:t>
            </a:r>
            <a:r>
              <a:rPr lang="zh-CN" altLang="en-US" sz="1600">
                <a:latin typeface="微软雅黑" panose="020B0503020204020204" charset="-122"/>
                <a:ea typeface="微软雅黑" panose="020B0503020204020204" charset="-122"/>
              </a:rPr>
              <a:t>，小于</a:t>
            </a:r>
            <a:r>
              <a:rPr lang="en-US" altLang="zh-CN" sz="1600">
                <a:latin typeface="微软雅黑" panose="020B0503020204020204" charset="-122"/>
                <a:ea typeface="微软雅黑" panose="020B0503020204020204" charset="-122"/>
              </a:rPr>
              <a:t>2.5Å</a:t>
            </a:r>
            <a:r>
              <a:rPr lang="zh-CN" altLang="en-US" sz="1600">
                <a:latin typeface="微软雅黑" panose="020B0503020204020204" charset="-122"/>
                <a:ea typeface="微软雅黑" panose="020B0503020204020204" charset="-122"/>
              </a:rPr>
              <a:t>的稳定氢键阈值，双重氢键作用将配体“锚定” 在 </a:t>
            </a:r>
            <a:r>
              <a:rPr lang="en-US" altLang="zh-CN" sz="1600">
                <a:latin typeface="微软雅黑" panose="020B0503020204020204" charset="-122"/>
                <a:ea typeface="微软雅黑" panose="020B0503020204020204" charset="-122"/>
              </a:rPr>
              <a:t>Asp57 </a:t>
            </a:r>
            <a:r>
              <a:rPr lang="zh-CN" altLang="en-US" sz="1600">
                <a:latin typeface="微软雅黑" panose="020B0503020204020204" charset="-122"/>
                <a:ea typeface="微软雅黑" panose="020B0503020204020204" charset="-122"/>
              </a:rPr>
              <a:t>附近，符合 “适配 </a:t>
            </a:r>
            <a:r>
              <a:rPr lang="en-US" altLang="zh-CN" sz="1600">
                <a:latin typeface="微软雅黑" panose="020B0503020204020204" charset="-122"/>
                <a:ea typeface="微软雅黑" panose="020B0503020204020204" charset="-122"/>
              </a:rPr>
              <a:t>Asp57 </a:t>
            </a:r>
            <a:r>
              <a:rPr lang="zh-CN" altLang="en-US" sz="1600">
                <a:latin typeface="微软雅黑" panose="020B0503020204020204" charset="-122"/>
                <a:ea typeface="微软雅黑" panose="020B0503020204020204" charset="-122"/>
              </a:rPr>
              <a:t>氢键作用” 的核心设计要求。</a:t>
            </a:r>
            <a:endParaRPr lang="zh-CN" altLang="en-US" sz="1600">
              <a:latin typeface="微软雅黑" panose="020B0503020204020204" charset="-122"/>
              <a:ea typeface="微软雅黑" panose="020B0503020204020204" charset="-122"/>
            </a:endParaRPr>
          </a:p>
          <a:p>
            <a:pPr indent="266700" algn="just" defTabSz="266700">
              <a:buNone/>
            </a:pPr>
            <a:r>
              <a:rPr lang="zh-CN" altLang="en-US" sz="1600">
                <a:latin typeface="微软雅黑" panose="020B0503020204020204" charset="-122"/>
                <a:ea typeface="微软雅黑" panose="020B0503020204020204" charset="-122"/>
              </a:rPr>
              <a:t>因此，</a:t>
            </a:r>
            <a:r>
              <a:rPr lang="en-US" altLang="zh-CN" sz="1600">
                <a:latin typeface="微软雅黑" panose="020B0503020204020204" charset="-122"/>
                <a:ea typeface="微软雅黑" panose="020B0503020204020204" charset="-122"/>
                <a:sym typeface="+mn-ea"/>
              </a:rPr>
              <a:t>PubChemCID 10176216</a:t>
            </a:r>
            <a:r>
              <a:rPr lang="en-US" altLang="zh-CN" sz="1600">
                <a:latin typeface="微软雅黑" panose="020B0503020204020204" charset="-122"/>
                <a:ea typeface="微软雅黑" panose="020B0503020204020204" charset="-122"/>
              </a:rPr>
              <a:t> </a:t>
            </a:r>
            <a:r>
              <a:rPr lang="zh-CN" altLang="en-US" sz="1600">
                <a:latin typeface="微软雅黑" panose="020B0503020204020204" charset="-122"/>
                <a:ea typeface="微软雅黑" panose="020B0503020204020204" charset="-122"/>
              </a:rPr>
              <a:t>是 </a:t>
            </a:r>
            <a:r>
              <a:rPr lang="en-US" altLang="zh-CN" sz="1600">
                <a:latin typeface="微软雅黑" panose="020B0503020204020204" charset="-122"/>
                <a:ea typeface="微软雅黑" panose="020B0503020204020204" charset="-122"/>
              </a:rPr>
              <a:t>KRAS G12D </a:t>
            </a:r>
            <a:r>
              <a:rPr lang="zh-CN" altLang="en-US" sz="1600">
                <a:latin typeface="微软雅黑" panose="020B0503020204020204" charset="-122"/>
                <a:ea typeface="微软雅黑" panose="020B0503020204020204" charset="-122"/>
              </a:rPr>
              <a:t>变构口袋的潜在有效候选分子。</a:t>
            </a:r>
            <a:endParaRPr lang="zh-CN" altLang="en-US" sz="160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107950" y="2132965"/>
            <a:ext cx="4885690" cy="2914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Shape 0"/>
          <p:cNvSpPr/>
          <p:nvPr/>
        </p:nvSpPr>
        <p:spPr>
          <a:xfrm>
            <a:off x="0" y="1285875"/>
            <a:ext cx="2708275" cy="161925"/>
          </a:xfrm>
          <a:prstGeom prst="rect">
            <a:avLst/>
          </a:prstGeom>
          <a:gradFill rotWithShape="1">
            <a:gsLst>
              <a:gs pos="0">
                <a:srgbClr val="FFFFFF"/>
              </a:gs>
              <a:gs pos="100000">
                <a:srgbClr val="004CC0"/>
              </a:gs>
            </a:gsLst>
            <a:lin ang="81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8434" name="Text 1"/>
          <p:cNvSpPr/>
          <p:nvPr/>
        </p:nvSpPr>
        <p:spPr>
          <a:xfrm>
            <a:off x="0" y="1285875"/>
            <a:ext cx="2708275" cy="16192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35" name="Shape 2"/>
          <p:cNvSpPr/>
          <p:nvPr/>
        </p:nvSpPr>
        <p:spPr>
          <a:xfrm>
            <a:off x="0" y="1511300"/>
            <a:ext cx="9142413" cy="0"/>
          </a:xfrm>
          <a:prstGeom prst="line">
            <a:avLst/>
          </a:prstGeom>
          <a:ln w="19050" cap="flat" cmpd="sng">
            <a:solidFill>
              <a:srgbClr val="007FD4"/>
            </a:solidFill>
            <a:prstDash val="solid"/>
            <a:round/>
            <a:headEnd type="none" w="med" len="med"/>
            <a:tailEnd type="none" w="med" len="med"/>
          </a:ln>
        </p:spPr>
      </p:sp>
      <p:sp>
        <p:nvSpPr>
          <p:cNvPr id="18436" name="Shape 3"/>
          <p:cNvSpPr/>
          <p:nvPr/>
        </p:nvSpPr>
        <p:spPr>
          <a:xfrm rot="5940000">
            <a:off x="219075" y="895350"/>
            <a:ext cx="419100" cy="419100"/>
          </a:xfrm>
          <a:custGeom>
            <a:avLst/>
            <a:gdLst/>
            <a:ahLst/>
            <a:cxnLst>
              <a:cxn ang="16200000">
                <a:pos x="209550" y="0"/>
              </a:cxn>
              <a:cxn ang="16200000">
                <a:pos x="61375" y="61375"/>
              </a:cxn>
              <a:cxn ang="10800000">
                <a:pos x="0" y="209550"/>
              </a:cxn>
              <a:cxn ang="5400000">
                <a:pos x="61375" y="357724"/>
              </a:cxn>
              <a:cxn ang="5400000">
                <a:pos x="209550" y="419100"/>
              </a:cxn>
              <a:cxn ang="5400000">
                <a:pos x="357724" y="357724"/>
              </a:cxn>
              <a:cxn ang="0">
                <a:pos x="419100" y="209550"/>
              </a:cxn>
              <a:cxn ang="16200000">
                <a:pos x="357724" y="61375"/>
              </a:cxn>
            </a:cxnLst>
            <a:pathLst>
              <a:path w="419100" h="419100">
                <a:moveTo>
                  <a:pt x="0" y="209550"/>
                </a:moveTo>
                <a:cubicBezTo>
                  <a:pt x="0" y="93819"/>
                  <a:pt x="93819" y="0"/>
                  <a:pt x="209550" y="0"/>
                </a:cubicBezTo>
                <a:cubicBezTo>
                  <a:pt x="325281" y="0"/>
                  <a:pt x="419100" y="93819"/>
                  <a:pt x="419100" y="209550"/>
                </a:cubicBezTo>
                <a:cubicBezTo>
                  <a:pt x="419100" y="325281"/>
                  <a:pt x="325281" y="419100"/>
                  <a:pt x="209550" y="419100"/>
                </a:cubicBezTo>
                <a:cubicBezTo>
                  <a:pt x="93819" y="419100"/>
                  <a:pt x="0" y="325281"/>
                  <a:pt x="0" y="209550"/>
                </a:cubicBezTo>
                <a:close/>
                <a:moveTo>
                  <a:pt x="104775" y="209550"/>
                </a:moveTo>
                <a:cubicBezTo>
                  <a:pt x="104775" y="267416"/>
                  <a:pt x="151684" y="314325"/>
                  <a:pt x="209550" y="314325"/>
                </a:cubicBezTo>
                <a:cubicBezTo>
                  <a:pt x="267416" y="314325"/>
                  <a:pt x="314325" y="267416"/>
                  <a:pt x="314325" y="209550"/>
                </a:cubicBezTo>
                <a:cubicBezTo>
                  <a:pt x="314325" y="151684"/>
                  <a:pt x="267416" y="104775"/>
                  <a:pt x="209550" y="104775"/>
                </a:cubicBezTo>
                <a:cubicBezTo>
                  <a:pt x="151684" y="104775"/>
                  <a:pt x="104775" y="151684"/>
                  <a:pt x="104775" y="209550"/>
                </a:cubicBezTo>
                <a:close/>
              </a:path>
            </a:pathLst>
          </a:custGeom>
          <a:gradFill rotWithShape="1">
            <a:gsLst>
              <a:gs pos="0">
                <a:srgbClr val="004CC0"/>
              </a:gs>
              <a:gs pos="100000">
                <a:srgbClr val="00B0F0">
                  <a:alpha val="3000"/>
                </a:srgbClr>
              </a:gs>
            </a:gsLst>
            <a:lin ang="18900000" scaled="1"/>
            <a:tileRect/>
          </a:gradFill>
          <a:ln w="9525">
            <a:noFill/>
          </a:ln>
        </p:spPr>
        <p:txBody>
          <a:bodyPr/>
          <a:p>
            <a:endParaRPr lang="zh-CN" altLang="en-US"/>
          </a:p>
        </p:txBody>
      </p:sp>
      <p:sp>
        <p:nvSpPr>
          <p:cNvPr id="18437" name="Text 4"/>
          <p:cNvSpPr/>
          <p:nvPr/>
        </p:nvSpPr>
        <p:spPr>
          <a:xfrm rot="5940000">
            <a:off x="219075" y="895350"/>
            <a:ext cx="419100" cy="419100"/>
          </a:xfrm>
          <a:prstGeom prst="rect">
            <a:avLst/>
          </a:prstGeom>
          <a:noFill/>
          <a:ln w="9525">
            <a:noFill/>
          </a:ln>
        </p:spPr>
        <p:txBody>
          <a:bodyPr wrap="square" lIns="34290" tIns="68580" rIns="68580" bIns="34290" anchor="t" anchorCtr="0"/>
          <a:p>
            <a:endParaRPr lang="en-US" altLang="zh-CN" sz="1200" dirty="0">
              <a:latin typeface="Arial" panose="020B0604020202020204" pitchFamily="34" charset="0"/>
              <a:ea typeface="宋体" panose="02010600030101010101" pitchFamily="2" charset="-122"/>
            </a:endParaRPr>
          </a:p>
        </p:txBody>
      </p:sp>
      <p:sp>
        <p:nvSpPr>
          <p:cNvPr id="18438" name="Shape 5"/>
          <p:cNvSpPr/>
          <p:nvPr/>
        </p:nvSpPr>
        <p:spPr>
          <a:xfrm>
            <a:off x="-11112" y="5589588"/>
            <a:ext cx="9166225" cy="411162"/>
          </a:xfrm>
          <a:prstGeom prst="roundRect">
            <a:avLst>
              <a:gd name="adj" fmla="val 0"/>
            </a:avLst>
          </a:prstGeom>
          <a:solidFill>
            <a:srgbClr val="004CC0"/>
          </a:soli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18439" name="Text 6"/>
          <p:cNvSpPr/>
          <p:nvPr/>
        </p:nvSpPr>
        <p:spPr>
          <a:xfrm>
            <a:off x="-11112" y="5589588"/>
            <a:ext cx="9166225" cy="41116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0" name="Text 8"/>
          <p:cNvSpPr/>
          <p:nvPr/>
        </p:nvSpPr>
        <p:spPr>
          <a:xfrm>
            <a:off x="565150" y="1998663"/>
            <a:ext cx="2409825" cy="3201987"/>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1" name="Text 12"/>
          <p:cNvSpPr/>
          <p:nvPr/>
        </p:nvSpPr>
        <p:spPr>
          <a:xfrm>
            <a:off x="755650" y="3143250"/>
            <a:ext cx="2028825" cy="26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2" name="Text 15"/>
          <p:cNvSpPr/>
          <p:nvPr/>
        </p:nvSpPr>
        <p:spPr>
          <a:xfrm>
            <a:off x="3360738" y="1803400"/>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3" name="Text 19"/>
          <p:cNvSpPr/>
          <p:nvPr/>
        </p:nvSpPr>
        <p:spPr>
          <a:xfrm>
            <a:off x="3551238" y="2947988"/>
            <a:ext cx="2027237"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4" name="Text 22"/>
          <p:cNvSpPr/>
          <p:nvPr/>
        </p:nvSpPr>
        <p:spPr>
          <a:xfrm>
            <a:off x="6154738" y="1609725"/>
            <a:ext cx="2409825" cy="3201988"/>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5" name="Text 26"/>
          <p:cNvSpPr/>
          <p:nvPr/>
        </p:nvSpPr>
        <p:spPr>
          <a:xfrm>
            <a:off x="6345238" y="2752725"/>
            <a:ext cx="2028825" cy="28575"/>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6" name="Text 29"/>
          <p:cNvSpPr/>
          <p:nvPr/>
        </p:nvSpPr>
        <p:spPr>
          <a:xfrm>
            <a:off x="2973388" y="1814513"/>
            <a:ext cx="395287" cy="3389312"/>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7" name="Text 31"/>
          <p:cNvSpPr/>
          <p:nvPr/>
        </p:nvSpPr>
        <p:spPr>
          <a:xfrm>
            <a:off x="5765800" y="1606550"/>
            <a:ext cx="396875" cy="3409950"/>
          </a:xfrm>
          <a:prstGeom prst="rect">
            <a:avLst/>
          </a:prstGeom>
          <a:noFill/>
          <a:ln w="9525">
            <a:noFill/>
          </a:ln>
        </p:spPr>
        <p:txBody>
          <a:bodyPr wrap="square" lIns="34290" tIns="68580" rIns="68580" bIns="34290" anchor="ctr" anchorCtr="0"/>
          <a:p>
            <a:endParaRPr lang="en-US" altLang="zh-CN" sz="1200" dirty="0">
              <a:latin typeface="Arial" panose="020B0604020202020204" pitchFamily="34" charset="0"/>
              <a:ea typeface="宋体" panose="02010600030101010101" pitchFamily="2" charset="-122"/>
            </a:endParaRPr>
          </a:p>
        </p:txBody>
      </p:sp>
      <p:sp>
        <p:nvSpPr>
          <p:cNvPr id="18448" name="文本框 1"/>
          <p:cNvSpPr txBox="1"/>
          <p:nvPr/>
        </p:nvSpPr>
        <p:spPr>
          <a:xfrm>
            <a:off x="323850" y="404813"/>
            <a:ext cx="5080000" cy="398780"/>
          </a:xfrm>
          <a:prstGeom prst="rect">
            <a:avLst/>
          </a:prstGeom>
          <a:noFill/>
          <a:ln w="9525">
            <a:noFill/>
          </a:ln>
        </p:spPr>
        <p:txBody>
          <a:bodyPr anchor="t" anchorCtr="0">
            <a:spAutoFit/>
          </a:bodyPr>
          <a:p>
            <a:pPr algn="just" defTabSz="266700"/>
            <a:r>
              <a:rPr lang="zh-CN" altLang="en-US" sz="2000">
                <a:latin typeface="黑体" panose="02010609060101010101" charset="-122"/>
                <a:ea typeface="黑体" panose="02010609060101010101" charset="-122"/>
              </a:rPr>
              <a:t>五、工作流程总结</a:t>
            </a:r>
            <a:endParaRPr lang="zh-CN" altLang="en-US" sz="2000">
              <a:latin typeface="黑体" panose="02010609060101010101" charset="-122"/>
              <a:ea typeface="黑体" panose="02010609060101010101" charset="-122"/>
            </a:endParaRPr>
          </a:p>
        </p:txBody>
      </p:sp>
      <p:sp>
        <p:nvSpPr>
          <p:cNvPr id="3" name="文本框 2"/>
          <p:cNvSpPr txBox="1"/>
          <p:nvPr/>
        </p:nvSpPr>
        <p:spPr>
          <a:xfrm>
            <a:off x="565150" y="1819275"/>
            <a:ext cx="7842885" cy="3046095"/>
          </a:xfrm>
          <a:prstGeom prst="rect">
            <a:avLst/>
          </a:prstGeom>
        </p:spPr>
        <p:txBody>
          <a:bodyPr wrap="square">
            <a:spAutoFit/>
          </a:bodyPr>
          <a:p>
            <a:pPr algn="just" defTabSz="266700"/>
            <a:r>
              <a:rPr lang="zh-CN" altLang="en-US" sz="1600" noProof="1">
                <a:latin typeface="微软雅黑" panose="020B0503020204020204" charset="-122"/>
                <a:ea typeface="微软雅黑" panose="020B0503020204020204" charset="-122"/>
                <a:cs typeface="微软雅黑" panose="020B0503020204020204" charset="-122"/>
              </a:rPr>
              <a:t>流程总结：</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本流程实现了“从 </a:t>
            </a:r>
            <a:r>
              <a:rPr lang="en-US" altLang="zh-CN" sz="1600" noProof="1">
                <a:latin typeface="微软雅黑" panose="020B0503020204020204" charset="-122"/>
                <a:ea typeface="微软雅黑" panose="020B0503020204020204" charset="-122"/>
                <a:cs typeface="微软雅黑" panose="020B0503020204020204" charset="-122"/>
              </a:rPr>
              <a:t>KRAS </a:t>
            </a:r>
            <a:r>
              <a:rPr lang="zh-CN" altLang="en-US" sz="1600" noProof="1">
                <a:latin typeface="微软雅黑" panose="020B0503020204020204" charset="-122"/>
                <a:ea typeface="微软雅黑" panose="020B0503020204020204" charset="-122"/>
                <a:cs typeface="微软雅黑" panose="020B0503020204020204" charset="-122"/>
              </a:rPr>
              <a:t>突变靶标到候选小分子” 的</a:t>
            </a:r>
            <a:r>
              <a:rPr lang="en-US" altLang="zh-CN" sz="1600" noProof="1">
                <a:latin typeface="微软雅黑" panose="020B0503020204020204" charset="-122"/>
                <a:ea typeface="微软雅黑" panose="020B0503020204020204" charset="-122"/>
                <a:cs typeface="微软雅黑" panose="020B0503020204020204" charset="-122"/>
              </a:rPr>
              <a:t>AI</a:t>
            </a:r>
            <a:r>
              <a:rPr lang="zh-CN" altLang="en-US" sz="1600" noProof="1">
                <a:latin typeface="微软雅黑" panose="020B0503020204020204" charset="-122"/>
                <a:ea typeface="微软雅黑" panose="020B0503020204020204" charset="-122"/>
                <a:cs typeface="微软雅黑" panose="020B0503020204020204" charset="-122"/>
              </a:rPr>
              <a:t>辅助设计闭环：</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靶标定义：明确</a:t>
            </a:r>
            <a:r>
              <a:rPr lang="en-US" altLang="zh-CN" sz="1600" noProof="1">
                <a:latin typeface="微软雅黑" panose="020B0503020204020204" charset="-122"/>
                <a:ea typeface="微软雅黑" panose="020B0503020204020204" charset="-122"/>
                <a:cs typeface="微软雅黑" panose="020B0503020204020204" charset="-122"/>
              </a:rPr>
              <a:t>KRAS G12D </a:t>
            </a:r>
            <a:r>
              <a:rPr lang="zh-CN" altLang="en-US" sz="1600" noProof="1">
                <a:latin typeface="微软雅黑" panose="020B0503020204020204" charset="-122"/>
                <a:ea typeface="微软雅黑" panose="020B0503020204020204" charset="-122"/>
                <a:cs typeface="微软雅黑" panose="020B0503020204020204" charset="-122"/>
              </a:rPr>
              <a:t>在肺癌中的临床意义，确定变构口袋为设计靶点。</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结构预测：用</a:t>
            </a:r>
            <a:r>
              <a:rPr lang="en-US" altLang="zh-CN" sz="1600" noProof="1">
                <a:latin typeface="微软雅黑" panose="020B0503020204020204" charset="-122"/>
                <a:ea typeface="微软雅黑" panose="020B0503020204020204" charset="-122"/>
                <a:cs typeface="微软雅黑" panose="020B0503020204020204" charset="-122"/>
              </a:rPr>
              <a:t>AlphaFold </a:t>
            </a:r>
            <a:r>
              <a:rPr lang="zh-CN" altLang="en-US" sz="1600" noProof="1">
                <a:latin typeface="微软雅黑" panose="020B0503020204020204" charset="-122"/>
                <a:ea typeface="微软雅黑" panose="020B0503020204020204" charset="-122"/>
                <a:cs typeface="微软雅黑" panose="020B0503020204020204" charset="-122"/>
              </a:rPr>
              <a:t>获取 </a:t>
            </a:r>
            <a:r>
              <a:rPr lang="en-US" altLang="zh-CN" sz="1600" noProof="1">
                <a:latin typeface="微软雅黑" panose="020B0503020204020204" charset="-122"/>
                <a:ea typeface="微软雅黑" panose="020B0503020204020204" charset="-122"/>
                <a:cs typeface="微软雅黑" panose="020B0503020204020204" charset="-122"/>
              </a:rPr>
              <a:t>KRAS G12D</a:t>
            </a:r>
            <a:r>
              <a:rPr lang="zh-CN" altLang="en-US" sz="1600" noProof="1">
                <a:latin typeface="微软雅黑" panose="020B0503020204020204" charset="-122"/>
                <a:ea typeface="微软雅黑" panose="020B0503020204020204" charset="-122"/>
                <a:cs typeface="微软雅黑" panose="020B0503020204020204" charset="-122"/>
              </a:rPr>
              <a:t>高精度结构，验证变构口袋可信度。</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口袋分析：用</a:t>
            </a:r>
            <a:r>
              <a:rPr lang="en-US" altLang="zh-CN" sz="1600" noProof="1">
                <a:latin typeface="微软雅黑" panose="020B0503020204020204" charset="-122"/>
                <a:ea typeface="微软雅黑" panose="020B0503020204020204" charset="-122"/>
                <a:cs typeface="微软雅黑" panose="020B0503020204020204" charset="-122"/>
              </a:rPr>
              <a:t>PyMOL </a:t>
            </a:r>
            <a:r>
              <a:rPr lang="zh-CN" altLang="en-US" sz="1600" noProof="1">
                <a:latin typeface="微软雅黑" panose="020B0503020204020204" charset="-122"/>
                <a:ea typeface="微软雅黑" panose="020B0503020204020204" charset="-122"/>
                <a:cs typeface="微软雅黑" panose="020B0503020204020204" charset="-122"/>
              </a:rPr>
              <a:t>定位变构口袋，标记关键残基（</a:t>
            </a:r>
            <a:r>
              <a:rPr lang="en-US" altLang="zh-CN" sz="1600" noProof="1">
                <a:latin typeface="微软雅黑" panose="020B0503020204020204" charset="-122"/>
                <a:ea typeface="微软雅黑" panose="020B0503020204020204" charset="-122"/>
                <a:cs typeface="微软雅黑" panose="020B0503020204020204" charset="-122"/>
              </a:rPr>
              <a:t>Asp57</a:t>
            </a:r>
            <a:r>
              <a:rPr lang="zh-CN" altLang="en-US" sz="1600" noProof="1">
                <a:latin typeface="微软雅黑" panose="020B0503020204020204" charset="-122"/>
                <a:ea typeface="微软雅黑" panose="020B0503020204020204" charset="-122"/>
                <a:cs typeface="微软雅黑" panose="020B0503020204020204" charset="-122"/>
              </a:rPr>
              <a:t>、</a:t>
            </a:r>
            <a:r>
              <a:rPr lang="en-US" altLang="zh-CN" sz="1600" noProof="1">
                <a:latin typeface="微软雅黑" panose="020B0503020204020204" charset="-122"/>
                <a:ea typeface="微软雅黑" panose="020B0503020204020204" charset="-122"/>
                <a:cs typeface="微软雅黑" panose="020B0503020204020204" charset="-122"/>
              </a:rPr>
              <a:t>Tyr97 </a:t>
            </a:r>
            <a:r>
              <a:rPr lang="zh-CN" altLang="en-US" sz="1600" noProof="1">
                <a:latin typeface="微软雅黑" panose="020B0503020204020204" charset="-122"/>
                <a:ea typeface="微软雅黑" panose="020B0503020204020204" charset="-122"/>
                <a:cs typeface="微软雅黑" panose="020B0503020204020204" charset="-122"/>
              </a:rPr>
              <a:t>等）。</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虚拟筛选：用</a:t>
            </a:r>
            <a:r>
              <a:rPr lang="en-US" altLang="zh-CN" sz="1600" noProof="1">
                <a:latin typeface="微软雅黑" panose="020B0503020204020204" charset="-122"/>
                <a:ea typeface="微软雅黑" panose="020B0503020204020204" charset="-122"/>
                <a:cs typeface="微软雅黑" panose="020B0503020204020204" charset="-122"/>
              </a:rPr>
              <a:t>AutoDock Vina</a:t>
            </a:r>
            <a:r>
              <a:rPr lang="zh-CN" altLang="en-US" sz="1600" noProof="1">
                <a:latin typeface="微软雅黑" panose="020B0503020204020204" charset="-122"/>
                <a:ea typeface="微软雅黑" panose="020B0503020204020204" charset="-122"/>
                <a:cs typeface="微软雅黑" panose="020B0503020204020204" charset="-122"/>
              </a:rPr>
              <a:t>计算结合能，筛选高亲和力、构象合理的分子。</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可视化分析：通过</a:t>
            </a:r>
            <a:r>
              <a:rPr lang="en-US" altLang="zh-CN" sz="1600" noProof="1">
                <a:latin typeface="微软雅黑" panose="020B0503020204020204" charset="-122"/>
                <a:ea typeface="微软雅黑" panose="020B0503020204020204" charset="-122"/>
                <a:cs typeface="微软雅黑" panose="020B0503020204020204" charset="-122"/>
              </a:rPr>
              <a:t>PyMOL </a:t>
            </a:r>
            <a:r>
              <a:rPr lang="zh-CN" altLang="en-US" sz="1600" noProof="1">
                <a:latin typeface="微软雅黑" panose="020B0503020204020204" charset="-122"/>
                <a:ea typeface="微软雅黑" panose="020B0503020204020204" charset="-122"/>
                <a:cs typeface="微软雅黑" panose="020B0503020204020204" charset="-122"/>
              </a:rPr>
              <a:t>的三维结构分析可视化验证结论。</a:t>
            </a:r>
            <a:endParaRPr lang="zh-CN" altLang="en-US" sz="1600" noProof="1">
              <a:latin typeface="微软雅黑" panose="020B0503020204020204" charset="-122"/>
              <a:ea typeface="微软雅黑" panose="020B0503020204020204" charset="-122"/>
              <a:cs typeface="微软雅黑" panose="020B0503020204020204" charset="-122"/>
            </a:endParaRPr>
          </a:p>
          <a:p>
            <a:pPr algn="just" defTabSz="266700"/>
            <a:endParaRPr lang="zh-CN" altLang="en-US" sz="1600" noProof="1">
              <a:latin typeface="微软雅黑" panose="020B0503020204020204" charset="-122"/>
              <a:ea typeface="微软雅黑" panose="020B0503020204020204" charset="-122"/>
              <a:cs typeface="微软雅黑" panose="020B0503020204020204" charset="-122"/>
            </a:endParaRPr>
          </a:p>
          <a:p>
            <a:pPr algn="just" defTabSz="266700"/>
            <a:r>
              <a:rPr lang="zh-CN" altLang="en-US" sz="1600" noProof="1">
                <a:latin typeface="微软雅黑" panose="020B0503020204020204" charset="-122"/>
                <a:ea typeface="微软雅黑" panose="020B0503020204020204" charset="-122"/>
                <a:cs typeface="微软雅黑" panose="020B0503020204020204" charset="-122"/>
              </a:rPr>
              <a:t>扩展</a:t>
            </a:r>
            <a:r>
              <a:rPr lang="zh-CN" altLang="en-US" sz="1600" noProof="1">
                <a:latin typeface="微软雅黑" panose="020B0503020204020204" charset="-122"/>
                <a:ea typeface="微软雅黑" panose="020B0503020204020204" charset="-122"/>
                <a:cs typeface="微软雅黑" panose="020B0503020204020204" charset="-122"/>
              </a:rPr>
              <a:t>思考：</a:t>
            </a:r>
            <a:endParaRPr lang="zh-CN" altLang="en-US" sz="1600" noProof="1">
              <a:latin typeface="微软雅黑" panose="020B0503020204020204" charset="-122"/>
              <a:ea typeface="微软雅黑" panose="020B0503020204020204" charset="-122"/>
              <a:cs typeface="微软雅黑" panose="020B0503020204020204" charset="-122"/>
            </a:endParaRPr>
          </a:p>
          <a:p>
            <a:pPr marL="285750" indent="-285750" algn="just" defTabSz="266700">
              <a:buFont typeface="Wingdings" panose="05000000000000000000" charset="0"/>
              <a:buChar char="Ø"/>
            </a:pPr>
            <a:r>
              <a:rPr lang="zh-CN" altLang="en-US" sz="1600">
                <a:latin typeface="微软雅黑" panose="020B0503020204020204" charset="-122"/>
                <a:ea typeface="微软雅黑" panose="020B0503020204020204" charset="-122"/>
                <a:cs typeface="微软雅黑" panose="020B0503020204020204" charset="-122"/>
                <a:sym typeface="+mn-ea"/>
              </a:rPr>
              <a:t>靶标可替换成其他疾病的治病基因编码蛋白。</a:t>
            </a:r>
            <a:endParaRPr lang="zh-CN" altLang="en-US" sz="1600">
              <a:latin typeface="微软雅黑" panose="020B0503020204020204" charset="-122"/>
              <a:ea typeface="微软雅黑" panose="020B0503020204020204" charset="-122"/>
              <a:cs typeface="微软雅黑" panose="020B0503020204020204" charset="-122"/>
              <a:sym typeface="+mn-ea"/>
            </a:endParaRPr>
          </a:p>
          <a:p>
            <a:pPr marL="285750" indent="-285750" algn="just" defTabSz="266700">
              <a:buFont typeface="Wingdings" panose="05000000000000000000" charset="0"/>
              <a:buChar char="Ø"/>
            </a:pPr>
            <a:r>
              <a:rPr lang="zh-CN" altLang="en-US" sz="1600" noProof="1">
                <a:latin typeface="微软雅黑" panose="020B0503020204020204" charset="-122"/>
                <a:ea typeface="微软雅黑" panose="020B0503020204020204" charset="-122"/>
                <a:cs typeface="微软雅黑" panose="020B0503020204020204" charset="-122"/>
              </a:rPr>
              <a:t>小分子可以来源于</a:t>
            </a:r>
            <a:r>
              <a:rPr lang="zh-CN" altLang="en-US" sz="1600" noProof="1">
                <a:latin typeface="微软雅黑" panose="020B0503020204020204" charset="-122"/>
                <a:ea typeface="微软雅黑" panose="020B0503020204020204" charset="-122"/>
                <a:cs typeface="微软雅黑" panose="020B0503020204020204" charset="-122"/>
              </a:rPr>
              <a:t>生信方法识别的候选</a:t>
            </a:r>
            <a:r>
              <a:rPr lang="zh-CN" altLang="en-US" sz="1600" noProof="1">
                <a:latin typeface="微软雅黑" panose="020B0503020204020204" charset="-122"/>
                <a:ea typeface="微软雅黑" panose="020B0503020204020204" charset="-122"/>
                <a:cs typeface="微软雅黑" panose="020B0503020204020204" charset="-122"/>
              </a:rPr>
              <a:t>蛋白。</a:t>
            </a:r>
            <a:endParaRPr lang="zh-CN" altLang="en-US" sz="1600" noProof="1">
              <a:latin typeface="微软雅黑" panose="020B0503020204020204" charset="-122"/>
              <a:ea typeface="微软雅黑" panose="020B0503020204020204" charset="-122"/>
              <a:cs typeface="微软雅黑" panose="020B0503020204020204" charset="-122"/>
            </a:endParaRPr>
          </a:p>
          <a:p>
            <a:pPr algn="just" defTabSz="266700"/>
            <a:endParaRPr lang="zh-CN" altLang="en-US" sz="1600" noProof="1">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TABLE_ENDDRAG_ORIGIN_RECT" val="468*128"/>
  <p:tag name="TABLE_ENDDRAG_RECT" val="116*289*468*128"/>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2926</Words>
  <Application>WPS 演示</Application>
  <PresentationFormat/>
  <Paragraphs>143</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宋体</vt:lpstr>
      <vt:lpstr>Wingdings</vt:lpstr>
      <vt:lpstr>微软雅黑</vt:lpstr>
      <vt:lpstr>黑体</vt:lpstr>
      <vt:lpstr>Wingdings</vt:lpstr>
      <vt:lpstr>Segoe UI</vt:lpstr>
      <vt:lpstr>Times New Roman</vt:lpstr>
      <vt:lpstr>Arial Unicode MS</vt:lpstr>
      <vt:lpstr>Calibri</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贾贾玉超</dc:creator>
  <cp:lastModifiedBy>WPS_1569918887</cp:lastModifiedBy>
  <cp:revision>17</cp:revision>
  <dcterms:created xsi:type="dcterms:W3CDTF">2025-07-23T00:59:00Z</dcterms:created>
  <dcterms:modified xsi:type="dcterms:W3CDTF">2025-10-14T11:35:51Z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F0D4510350314376BDED378ED52075FE_13</vt:lpwstr>
  </property>
</Properties>
</file>